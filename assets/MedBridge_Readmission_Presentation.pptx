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0326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294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3152699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3891337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712744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2129978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203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252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Hook: MedBridge readmits cardiac patients at 19% vs the 14% national average. We built ML on 10,000 records and compared 4 tree-ensemble models to flag high-risk patients before they leave the hospital. ~25 sec.</a:t>
            </a:r>
            <a:endParaRPr lang="en-US"/>
          </a:p>
        </p:txBody>
      </p:sp>
      <p:sp>
        <p:nvSpPr>
          <p:cNvPr id="1998300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458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319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MedBridge is 5 points above the national benchmark. We have 10,000 records with 11 features blending clinical signals and social determinants of health. Note the imbalance: only 19% are readmissions, which shapes how we evaluate models. ~30 sec.</a:t>
            </a:r>
            <a:endParaRPr lang="en-US"/>
          </a:p>
        </p:txBody>
      </p:sp>
      <p:sp>
        <p:nvSpPr>
          <p:cNvPr id="451526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131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374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Four exploratory views tell a consistent story. The age curve shows readmitted patients skew older. Prior admissions is the sharpest signal — risk climbs from ~10% with none to over 70% at four or more. Comorbidity burden pushes risk up the same way. And the correlation matrix confirms the ranking: prior admissions, comorbidities and age lead, while better medication adherence is protective. ~35 sec.</a:t>
            </a:r>
            <a:endParaRPr lang="en-US"/>
          </a:p>
        </p:txBody>
      </p:sp>
      <p:sp>
        <p:nvSpPr>
          <p:cNvPr id="731756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20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373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We trained Random Forest, XGBoost, LightGBM and CatBoost. Random Forest looks best on accuracy but only catches 15% of true readmissions — useless clinically. Since missing a high-risk patient is the costly error, recall matters most. CatBoost leads on recall (0.61) AND AUC (0.76), so it's our pick. ~40 sec.</a:t>
            </a:r>
            <a:endParaRPr lang="en-US"/>
          </a:p>
        </p:txBody>
      </p:sp>
      <p:sp>
        <p:nvSpPr>
          <p:cNvPr id="2111082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153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2738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On 2,000 held-out patients, CatBoost correctly flags 234 of 382 true high-risk cases — 61% recall. It still misses 148, the gap we'd target next. The cost is lower precision: more false alarms. But when the intervention is a cheap follow-up call, over-flagging is acceptable. ~35 sec.</a:t>
            </a:r>
            <a:endParaRPr lang="en-US"/>
          </a:p>
        </p:txBody>
      </p:sp>
      <p:sp>
        <p:nvSpPr>
          <p:cNvPr id="902621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849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400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model surfaces a multifactor risk profile — age, medication adherence and comorbidity burden lead, with social factors adding lift. Bottom line: deploy CatBoost as a pre-discharge risk score. Unlike a static LACE score, it works before the patient leaves, so the care team can act proactively. Closing. ~30 sec.</a:t>
            </a:r>
            <a:endParaRPr lang="en-US"/>
          </a:p>
        </p:txBody>
      </p:sp>
      <p:sp>
        <p:nvSpPr>
          <p:cNvPr id="1900637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35E6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301206" name="Shape 3"/>
          <p:cNvSpPr/>
          <p:nvPr/>
        </p:nvSpPr>
        <p:spPr bwMode="auto">
          <a:xfrm>
            <a:off x="594360" y="566928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25318888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3816" y="786384"/>
            <a:ext cx="402336" cy="402336"/>
          </a:xfrm>
          <a:prstGeom prst="rect">
            <a:avLst/>
          </a:prstGeom>
        </p:spPr>
      </p:pic>
      <p:sp>
        <p:nvSpPr>
          <p:cNvPr id="1768497023" name="Text 4"/>
          <p:cNvSpPr/>
          <p:nvPr/>
        </p:nvSpPr>
        <p:spPr bwMode="auto">
          <a:xfrm>
            <a:off x="1600200" y="658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 spc="3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CLINICAL MACHINE LEARNING</a:t>
            </a:r>
            <a:endParaRPr lang="en-US" sz="1300"/>
          </a:p>
        </p:txBody>
      </p:sp>
      <p:sp>
        <p:nvSpPr>
          <p:cNvPr id="1708140509" name="Text 5"/>
          <p:cNvSpPr/>
          <p:nvPr/>
        </p:nvSpPr>
        <p:spPr bwMode="auto">
          <a:xfrm>
            <a:off x="594360" y="16916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MedBridge Cardiac</a:t>
            </a:r>
            <a:endParaRPr lang="en-US" sz="4200"/>
          </a:p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Readmission Analysis</a:t>
            </a:r>
            <a:endParaRPr lang="en-US" sz="4200"/>
          </a:p>
        </p:txBody>
      </p:sp>
      <p:sp>
        <p:nvSpPr>
          <p:cNvPr id="1359970473" name="Text 6"/>
          <p:cNvSpPr/>
          <p:nvPr/>
        </p:nvSpPr>
        <p:spPr bwMode="auto">
          <a:xfrm>
            <a:off x="640080" y="3246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Machine-learning risk stratification to flag high-risk cardiac patients before discharge</a:t>
            </a:r>
            <a:endParaRPr lang="en-US" sz="1600"/>
          </a:p>
        </p:txBody>
      </p:sp>
      <p:sp>
        <p:nvSpPr>
          <p:cNvPr id="1392114657" name="Text 7"/>
          <p:cNvSpPr/>
          <p:nvPr/>
        </p:nvSpPr>
        <p:spPr bwMode="auto">
          <a:xfrm>
            <a:off x="64008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19%   </a:t>
            </a:r>
            <a:r>
              <a:rPr lang="en-US" sz="125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30-day readmission rate</a:t>
            </a:r>
            <a:endParaRPr lang="en-US" sz="2400"/>
          </a:p>
        </p:txBody>
      </p:sp>
      <p:sp>
        <p:nvSpPr>
          <p:cNvPr id="626188334" name="Text 8"/>
          <p:cNvSpPr/>
          <p:nvPr/>
        </p:nvSpPr>
        <p:spPr bwMode="auto">
          <a:xfrm>
            <a:off x="338328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10,000   </a:t>
            </a:r>
            <a:r>
              <a:rPr lang="en-US" sz="125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patient records</a:t>
            </a:r>
            <a:endParaRPr lang="en-US" sz="2400"/>
          </a:p>
        </p:txBody>
      </p:sp>
      <p:sp>
        <p:nvSpPr>
          <p:cNvPr id="828810549" name="Text 9"/>
          <p:cNvSpPr/>
          <p:nvPr/>
        </p:nvSpPr>
        <p:spPr bwMode="auto">
          <a:xfrm>
            <a:off x="612648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4   </a:t>
            </a:r>
            <a:r>
              <a:rPr lang="en-US" sz="125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models compared</a:t>
            </a:r>
            <a:endParaRPr lang="en-US" sz="2400"/>
          </a:p>
        </p:txBody>
      </p:sp>
      <p:sp>
        <p:nvSpPr>
          <p:cNvPr id="1722650309" name=""/>
          <p:cNvSpPr txBox="1"/>
          <p:nvPr/>
        </p:nvSpPr>
        <p:spPr bwMode="auto">
          <a:xfrm rot="0" flipH="0" flipV="0">
            <a:off x="640080" y="3654135"/>
            <a:ext cx="587892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</a:rPr>
              <a:t>Group 1: Abhyudhay, Rishika, Emma, Karthik  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929213" name="Shape 0"/>
          <p:cNvSpPr/>
          <p:nvPr/>
        </p:nvSpPr>
        <p:spPr bwMode="auto">
          <a:xfrm>
            <a:off x="502920" y="41148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06487994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9224" y="557784"/>
            <a:ext cx="256032" cy="256032"/>
          </a:xfrm>
          <a:prstGeom prst="rect">
            <a:avLst/>
          </a:prstGeom>
        </p:spPr>
      </p:pic>
      <p:sp>
        <p:nvSpPr>
          <p:cNvPr id="1330778263" name="Text 1"/>
          <p:cNvSpPr/>
          <p:nvPr/>
        </p:nvSpPr>
        <p:spPr bwMode="auto">
          <a:xfrm>
            <a:off x="11887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B3540"/>
                </a:solidFill>
                <a:latin typeface="Cambria"/>
                <a:ea typeface="Cambria"/>
                <a:cs typeface="Cambria"/>
              </a:rPr>
              <a:t>The Problem &amp; The Data</a:t>
            </a:r>
            <a:endParaRPr lang="en-US" sz="3000"/>
          </a:p>
        </p:txBody>
      </p:sp>
      <p:sp>
        <p:nvSpPr>
          <p:cNvPr id="833223158" name="Shape 2"/>
          <p:cNvSpPr/>
          <p:nvPr/>
        </p:nvSpPr>
        <p:spPr bwMode="auto">
          <a:xfrm>
            <a:off x="502920" y="123444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393691540" name="Text 3"/>
          <p:cNvSpPr/>
          <p:nvPr/>
        </p:nvSpPr>
        <p:spPr bwMode="auto">
          <a:xfrm>
            <a:off x="77724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MedBridge runs hot on readmissions</a:t>
            </a:r>
            <a:endParaRPr lang="en-US" sz="1500"/>
          </a:p>
        </p:txBody>
      </p:sp>
      <p:sp>
        <p:nvSpPr>
          <p:cNvPr id="1781000544" name="Text 4"/>
          <p:cNvSpPr/>
          <p:nvPr/>
        </p:nvSpPr>
        <p:spPr bwMode="auto">
          <a:xfrm>
            <a:off x="77724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C0594E"/>
                </a:solidFill>
                <a:latin typeface="Cambria"/>
                <a:ea typeface="Cambria"/>
                <a:cs typeface="Cambria"/>
              </a:rPr>
              <a:t>19%</a:t>
            </a:r>
            <a:endParaRPr lang="en-US" sz="6000"/>
          </a:p>
        </p:txBody>
      </p:sp>
      <p:sp>
        <p:nvSpPr>
          <p:cNvPr id="1265169429" name="Text 5"/>
          <p:cNvSpPr/>
          <p:nvPr/>
        </p:nvSpPr>
        <p:spPr bwMode="auto">
          <a:xfrm>
            <a:off x="77724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7780"/>
                </a:solidFill>
                <a:latin typeface="Calibri"/>
                <a:ea typeface="Calibri"/>
                <a:cs typeface="Calibri"/>
              </a:rPr>
              <a:t>MedBridge</a:t>
            </a:r>
            <a:endParaRPr lang="en-US" sz="1250"/>
          </a:p>
        </p:txBody>
      </p:sp>
      <p:sp>
        <p:nvSpPr>
          <p:cNvPr id="1693373859" name="Shape 6"/>
          <p:cNvSpPr/>
          <p:nvPr/>
        </p:nvSpPr>
        <p:spPr bwMode="auto">
          <a:xfrm>
            <a:off x="2587752" y="2240280"/>
            <a:ext cx="0" cy="868680"/>
          </a:xfrm>
          <a:prstGeom prst="line">
            <a:avLst/>
          </a:prstGeom>
          <a:noFill/>
          <a:ln w="19050">
            <a:solidFill>
              <a:srgbClr val="D6E4E6"/>
            </a:solidFill>
            <a:prstDash val="solid"/>
          </a:ln>
        </p:spPr>
      </p:sp>
      <p:sp>
        <p:nvSpPr>
          <p:cNvPr id="1639281325" name="Text 7"/>
          <p:cNvSpPr/>
          <p:nvPr/>
        </p:nvSpPr>
        <p:spPr bwMode="auto">
          <a:xfrm>
            <a:off x="2697480" y="2148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5B7780"/>
                </a:solidFill>
                <a:latin typeface="Cambria"/>
                <a:ea typeface="Cambria"/>
                <a:cs typeface="Cambria"/>
              </a:rPr>
              <a:t>14%</a:t>
            </a:r>
            <a:endParaRPr lang="en-US" sz="4600"/>
          </a:p>
        </p:txBody>
      </p:sp>
      <p:sp>
        <p:nvSpPr>
          <p:cNvPr id="709176983" name="Text 8"/>
          <p:cNvSpPr/>
          <p:nvPr/>
        </p:nvSpPr>
        <p:spPr bwMode="auto">
          <a:xfrm>
            <a:off x="26974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7780"/>
                </a:solidFill>
                <a:latin typeface="Calibri"/>
                <a:ea typeface="Calibri"/>
                <a:cs typeface="Calibri"/>
              </a:rPr>
              <a:t>National avg</a:t>
            </a:r>
            <a:endParaRPr lang="en-US" sz="1250"/>
          </a:p>
        </p:txBody>
      </p:sp>
      <p:sp>
        <p:nvSpPr>
          <p:cNvPr id="362075621" name="Text 9"/>
          <p:cNvSpPr/>
          <p:nvPr/>
        </p:nvSpPr>
        <p:spPr bwMode="auto">
          <a:xfrm>
            <a:off x="777240" y="342900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50" b="1">
                <a:solidFill>
                  <a:srgbClr val="C0594E"/>
                </a:solidFill>
                <a:latin typeface="Calibri"/>
                <a:ea typeface="Calibri"/>
                <a:cs typeface="Calibri"/>
              </a:rPr>
              <a:t>+5 points above benchmark </a:t>
            </a:r>
            <a:r>
              <a:rPr lang="en-US" sz="1350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— every avoided readmission saves cost and improves outcomes.</a:t>
            </a:r>
            <a:endParaRPr lang="en-US" sz="1350"/>
          </a:p>
        </p:txBody>
      </p:sp>
      <p:sp>
        <p:nvSpPr>
          <p:cNvPr id="338855101" name="Shape 10"/>
          <p:cNvSpPr/>
          <p:nvPr/>
        </p:nvSpPr>
        <p:spPr bwMode="auto">
          <a:xfrm>
            <a:off x="4663440" y="123444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035E6B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965762027" name="Shape 11"/>
          <p:cNvSpPr/>
          <p:nvPr/>
        </p:nvSpPr>
        <p:spPr bwMode="auto">
          <a:xfrm>
            <a:off x="4937760" y="1481328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36743280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74920" y="1618488"/>
            <a:ext cx="228600" cy="228600"/>
          </a:xfrm>
          <a:prstGeom prst="rect">
            <a:avLst/>
          </a:prstGeom>
        </p:spPr>
      </p:pic>
      <p:sp>
        <p:nvSpPr>
          <p:cNvPr id="524039597" name="Text 12"/>
          <p:cNvSpPr/>
          <p:nvPr/>
        </p:nvSpPr>
        <p:spPr bwMode="auto">
          <a:xfrm>
            <a:off x="5532120" y="1481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dataset</a:t>
            </a:r>
            <a:endParaRPr lang="en-US" sz="1600"/>
          </a:p>
        </p:txBody>
      </p:sp>
      <p:sp>
        <p:nvSpPr>
          <p:cNvPr id="1845819445" name="Text 13"/>
          <p:cNvSpPr/>
          <p:nvPr/>
        </p:nvSpPr>
        <p:spPr bwMode="auto">
          <a:xfrm>
            <a:off x="4937760" y="22402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10,000</a:t>
            </a:r>
            <a:endParaRPr lang="en-US" sz="1800"/>
          </a:p>
        </p:txBody>
      </p:sp>
      <p:sp>
        <p:nvSpPr>
          <p:cNvPr id="2042895676" name="Text 14"/>
          <p:cNvSpPr/>
          <p:nvPr/>
        </p:nvSpPr>
        <p:spPr bwMode="auto">
          <a:xfrm>
            <a:off x="4937760" y="25328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20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patient records, 11 clinical + social features</a:t>
            </a:r>
            <a:endParaRPr lang="en-US" sz="1200"/>
          </a:p>
        </p:txBody>
      </p:sp>
      <p:sp>
        <p:nvSpPr>
          <p:cNvPr id="930618434" name="Text 15"/>
          <p:cNvSpPr/>
          <p:nvPr/>
        </p:nvSpPr>
        <p:spPr bwMode="auto">
          <a:xfrm>
            <a:off x="4937760" y="30266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80.9 / 19.1</a:t>
            </a:r>
            <a:endParaRPr lang="en-US" sz="1800"/>
          </a:p>
        </p:txBody>
      </p:sp>
      <p:sp>
        <p:nvSpPr>
          <p:cNvPr id="956986255" name="Text 16"/>
          <p:cNvSpPr/>
          <p:nvPr/>
        </p:nvSpPr>
        <p:spPr bwMode="auto">
          <a:xfrm>
            <a:off x="4937760" y="3319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20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class split — routine vs. readmitted (imbalanced)</a:t>
            </a:r>
            <a:endParaRPr lang="en-US" sz="1200"/>
          </a:p>
        </p:txBody>
      </p:sp>
      <p:sp>
        <p:nvSpPr>
          <p:cNvPr id="1130862576" name="Text 17"/>
          <p:cNvSpPr/>
          <p:nvPr/>
        </p:nvSpPr>
        <p:spPr bwMode="auto">
          <a:xfrm>
            <a:off x="4937760" y="38130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Clinical + SDOH</a:t>
            </a:r>
            <a:endParaRPr lang="en-US" sz="1800"/>
          </a:p>
        </p:txBody>
      </p:sp>
      <p:sp>
        <p:nvSpPr>
          <p:cNvPr id="1622270237" name="Text 18"/>
          <p:cNvSpPr/>
          <p:nvPr/>
        </p:nvSpPr>
        <p:spPr bwMode="auto">
          <a:xfrm>
            <a:off x="4937760" y="41056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20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age, BP, glucose, comorbidities, compliance, insurance, ZIP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746514" name="Shape 0"/>
          <p:cNvSpPr/>
          <p:nvPr/>
        </p:nvSpPr>
        <p:spPr bwMode="auto">
          <a:xfrm>
            <a:off x="457200" y="329184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06521943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466344"/>
            <a:ext cx="237744" cy="237744"/>
          </a:xfrm>
          <a:prstGeom prst="rect">
            <a:avLst/>
          </a:prstGeom>
        </p:spPr>
      </p:pic>
      <p:sp>
        <p:nvSpPr>
          <p:cNvPr id="726653446" name="Text 1"/>
          <p:cNvSpPr/>
          <p:nvPr/>
        </p:nvSpPr>
        <p:spPr bwMode="auto">
          <a:xfrm>
            <a:off x="1078992" y="32918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B3540"/>
                </a:solidFill>
                <a:latin typeface="Cambria"/>
                <a:ea typeface="Cambria"/>
                <a:cs typeface="Cambria"/>
              </a:rPr>
              <a:t>What the Data Shows</a:t>
            </a:r>
            <a:endParaRPr lang="en-US" sz="2800"/>
          </a:p>
        </p:txBody>
      </p:sp>
      <p:sp>
        <p:nvSpPr>
          <p:cNvPr id="592237941" name="Shape 2"/>
          <p:cNvSpPr/>
          <p:nvPr/>
        </p:nvSpPr>
        <p:spPr bwMode="auto">
          <a:xfrm>
            <a:off x="365760" y="914400"/>
            <a:ext cx="5166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817344218" name="Image 1" descr="assets/eda_panel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65794" y="1024128"/>
            <a:ext cx="4766292" cy="3803904"/>
          </a:xfrm>
          <a:prstGeom prst="rect">
            <a:avLst/>
          </a:prstGeom>
        </p:spPr>
      </p:pic>
      <p:sp>
        <p:nvSpPr>
          <p:cNvPr id="1391339831" name="Text 3"/>
          <p:cNvSpPr/>
          <p:nvPr/>
        </p:nvSpPr>
        <p:spPr bwMode="auto">
          <a:xfrm>
            <a:off x="5715000" y="914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  <a:defRPr/>
            </a:pPr>
            <a:r>
              <a:rPr lang="en-US" sz="1600" b="1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Risk rises with history &amp; complexity</a:t>
            </a:r>
            <a:endParaRPr lang="en-US" sz="1600"/>
          </a:p>
        </p:txBody>
      </p:sp>
      <p:sp>
        <p:nvSpPr>
          <p:cNvPr id="111656726" name="Shape 4"/>
          <p:cNvSpPr/>
          <p:nvPr/>
        </p:nvSpPr>
        <p:spPr bwMode="auto">
          <a:xfrm>
            <a:off x="5715000" y="1627632"/>
            <a:ext cx="420624" cy="420624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1366935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33872" y="1746504"/>
            <a:ext cx="182880" cy="182880"/>
          </a:xfrm>
          <a:prstGeom prst="rect">
            <a:avLst/>
          </a:prstGeom>
        </p:spPr>
      </p:pic>
      <p:sp>
        <p:nvSpPr>
          <p:cNvPr id="1150996668" name="Text 5"/>
          <p:cNvSpPr/>
          <p:nvPr/>
        </p:nvSpPr>
        <p:spPr bwMode="auto">
          <a:xfrm>
            <a:off x="6254496" y="1572768"/>
            <a:ext cx="24323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  <a:defRPr/>
            </a:pPr>
            <a:r>
              <a:rPr lang="en-US" sz="1150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Readmitted patients skew older — risk concentrates in the 75–90 age band.</a:t>
            </a:r>
            <a:endParaRPr lang="en-US" sz="1150"/>
          </a:p>
        </p:txBody>
      </p:sp>
      <p:sp>
        <p:nvSpPr>
          <p:cNvPr id="1271604658" name="Shape 6"/>
          <p:cNvSpPr/>
          <p:nvPr/>
        </p:nvSpPr>
        <p:spPr bwMode="auto">
          <a:xfrm>
            <a:off x="5715000" y="2450592"/>
            <a:ext cx="420624" cy="420624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15849008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833872" y="2569464"/>
            <a:ext cx="182880" cy="182880"/>
          </a:xfrm>
          <a:prstGeom prst="rect">
            <a:avLst/>
          </a:prstGeom>
        </p:spPr>
      </p:pic>
      <p:sp>
        <p:nvSpPr>
          <p:cNvPr id="1583781564" name="Text 7"/>
          <p:cNvSpPr/>
          <p:nvPr/>
        </p:nvSpPr>
        <p:spPr bwMode="auto">
          <a:xfrm>
            <a:off x="6254496" y="2395728"/>
            <a:ext cx="24323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  <a:defRPr/>
            </a:pPr>
            <a:r>
              <a:rPr lang="en-US" sz="1150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Prior admissions is the steepest gradient: ~10% risk with none, climbing past 70% at 4+.</a:t>
            </a:r>
            <a:endParaRPr lang="en-US" sz="1150"/>
          </a:p>
        </p:txBody>
      </p:sp>
      <p:sp>
        <p:nvSpPr>
          <p:cNvPr id="1996803570" name="Shape 8"/>
          <p:cNvSpPr/>
          <p:nvPr/>
        </p:nvSpPr>
        <p:spPr bwMode="auto">
          <a:xfrm>
            <a:off x="5715000" y="3273552"/>
            <a:ext cx="420624" cy="420624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05477245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833872" y="3392424"/>
            <a:ext cx="182880" cy="182880"/>
          </a:xfrm>
          <a:prstGeom prst="rect">
            <a:avLst/>
          </a:prstGeom>
        </p:spPr>
      </p:pic>
      <p:sp>
        <p:nvSpPr>
          <p:cNvPr id="1362597831" name="Text 9"/>
          <p:cNvSpPr/>
          <p:nvPr/>
        </p:nvSpPr>
        <p:spPr bwMode="auto">
          <a:xfrm>
            <a:off x="6254496" y="3218688"/>
            <a:ext cx="24323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  <a:defRPr/>
            </a:pPr>
            <a:r>
              <a:rPr lang="en-US" sz="1150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A higher Charlson Comorbidity Index lifts risk steadily — roughly 8% up to 31%.</a:t>
            </a:r>
            <a:endParaRPr lang="en-US" sz="1150"/>
          </a:p>
        </p:txBody>
      </p:sp>
      <p:sp>
        <p:nvSpPr>
          <p:cNvPr id="219990668" name="Shape 10"/>
          <p:cNvSpPr/>
          <p:nvPr/>
        </p:nvSpPr>
        <p:spPr bwMode="auto">
          <a:xfrm>
            <a:off x="5715000" y="4096512"/>
            <a:ext cx="420624" cy="420624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749938755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833872" y="4215384"/>
            <a:ext cx="182880" cy="182880"/>
          </a:xfrm>
          <a:prstGeom prst="rect">
            <a:avLst/>
          </a:prstGeom>
        </p:spPr>
      </p:pic>
      <p:sp>
        <p:nvSpPr>
          <p:cNvPr id="633543195" name="Text 11"/>
          <p:cNvSpPr/>
          <p:nvPr/>
        </p:nvSpPr>
        <p:spPr bwMode="auto">
          <a:xfrm>
            <a:off x="6254496" y="4041648"/>
            <a:ext cx="24323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  <a:defRPr/>
            </a:pPr>
            <a:r>
              <a:rPr lang="en-US" sz="1150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Correlations agree: prior admissions (0.29), comorbidities (0.21), age (0.12) lead; better med adherence is protective (−0.13).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571447" name="Shape 0"/>
          <p:cNvSpPr/>
          <p:nvPr/>
        </p:nvSpPr>
        <p:spPr bwMode="auto">
          <a:xfrm>
            <a:off x="502920" y="41148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79590292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9224" y="557784"/>
            <a:ext cx="256032" cy="256032"/>
          </a:xfrm>
          <a:prstGeom prst="rect">
            <a:avLst/>
          </a:prstGeom>
        </p:spPr>
      </p:pic>
      <p:sp>
        <p:nvSpPr>
          <p:cNvPr id="1258156279" name="Text 1"/>
          <p:cNvSpPr/>
          <p:nvPr/>
        </p:nvSpPr>
        <p:spPr bwMode="auto">
          <a:xfrm>
            <a:off x="1188720" y="411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B3540"/>
                </a:solidFill>
                <a:latin typeface="Cambria"/>
                <a:ea typeface="Cambria"/>
                <a:cs typeface="Cambria"/>
              </a:rPr>
              <a:t>Comparing Four Models</a:t>
            </a:r>
            <a:endParaRPr lang="en-US" sz="3000"/>
          </a:p>
        </p:txBody>
      </p:sp>
      <p:graphicFrame>
        <p:nvGraphicFramePr>
          <p:cNvPr id="139874684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02920" y="1325880"/>
          <a:ext cx="507492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28800"/>
                <a:gridCol w="86868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35E6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35E6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35E6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35E6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AUC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35E6B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0.823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0.149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0.244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0.741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0.760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0.414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0.397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0.710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LightGBM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0.744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0.592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0.469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0.753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CatBoost ★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0.734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0.613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0.468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0B3540"/>
                          </a:solidFill>
                          <a:latin typeface="Calibri"/>
                          <a:ea typeface="Calibri"/>
                          <a:cs typeface="Calibri"/>
                        </a:rPr>
                        <a:t>0.764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8100" marR="38100" marT="38100" marB="38100" anchor="ctr">
                    <a:lnL w="12700" algn="ctr">
                      <a:solidFill>
                        <a:srgbClr val="DDE9EB"/>
                      </a:solidFill>
                    </a:lnL>
                    <a:lnR w="12700" algn="ctr">
                      <a:solidFill>
                        <a:srgbClr val="DDE9EB"/>
                      </a:solidFill>
                    </a:lnR>
                    <a:lnT w="12700" algn="ctr">
                      <a:solidFill>
                        <a:srgbClr val="DDE9EB"/>
                      </a:solidFill>
                    </a:lnT>
                    <a:lnB w="12700" algn="ctr">
                      <a:solidFill>
                        <a:srgbClr val="DDE9EB"/>
                      </a:solidFill>
                    </a:lnB>
                    <a:solidFill>
                      <a:srgbClr val="02C39A"/>
                    </a:solidFill>
                  </a:tcPr>
                </a:tc>
              </a:tr>
            </a:tbl>
          </a:graphicData>
        </a:graphic>
      </p:graphicFrame>
      <p:sp>
        <p:nvSpPr>
          <p:cNvPr id="1330274356" name="Text 2"/>
          <p:cNvSpPr/>
          <p:nvPr/>
        </p:nvSpPr>
        <p:spPr bwMode="auto">
          <a:xfrm>
            <a:off x="502920" y="406908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200" i="1">
                <a:solidFill>
                  <a:srgbClr val="5B7780"/>
                </a:solidFill>
                <a:latin typeface="Calibri"/>
                <a:ea typeface="Calibri"/>
                <a:cs typeface="Calibri"/>
              </a:rPr>
              <a:t>Higher accuracy can hide missed patients — Random Forest scores 0.82 accuracy but catches only 15% of readmissions.</a:t>
            </a:r>
            <a:endParaRPr lang="en-US" sz="1200"/>
          </a:p>
        </p:txBody>
      </p:sp>
      <p:sp>
        <p:nvSpPr>
          <p:cNvPr id="1771883640" name="Shape 3"/>
          <p:cNvSpPr/>
          <p:nvPr/>
        </p:nvSpPr>
        <p:spPr bwMode="auto">
          <a:xfrm>
            <a:off x="5852160" y="132588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035E6B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068329942" name="Shape 4"/>
          <p:cNvSpPr/>
          <p:nvPr/>
        </p:nvSpPr>
        <p:spPr bwMode="auto">
          <a:xfrm>
            <a:off x="6126480" y="1554480"/>
            <a:ext cx="502920" cy="502920"/>
          </a:xfrm>
          <a:prstGeom prst="ellipse">
            <a:avLst/>
          </a:prstGeom>
          <a:solidFill>
            <a:srgbClr val="C0594E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62523850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63640" y="1691640"/>
            <a:ext cx="228600" cy="228600"/>
          </a:xfrm>
          <a:prstGeom prst="rect">
            <a:avLst/>
          </a:prstGeom>
        </p:spPr>
      </p:pic>
      <p:sp>
        <p:nvSpPr>
          <p:cNvPr id="1747047988" name="Text 5"/>
          <p:cNvSpPr/>
          <p:nvPr/>
        </p:nvSpPr>
        <p:spPr bwMode="auto">
          <a:xfrm>
            <a:off x="672084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recall wins</a:t>
            </a:r>
            <a:endParaRPr lang="en-US" sz="1550"/>
          </a:p>
        </p:txBody>
      </p:sp>
      <p:sp>
        <p:nvSpPr>
          <p:cNvPr id="528857612" name="Text 6"/>
          <p:cNvSpPr/>
          <p:nvPr/>
        </p:nvSpPr>
        <p:spPr bwMode="auto">
          <a:xfrm>
            <a:off x="612648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In a hospital, a missed high-risk patient is far costlier than a false alarm.</a:t>
            </a:r>
            <a:endParaRPr lang="en-US" sz="1300"/>
          </a:p>
        </p:txBody>
      </p:sp>
      <p:sp>
        <p:nvSpPr>
          <p:cNvPr id="1503110913" name="Text 7"/>
          <p:cNvSpPr/>
          <p:nvPr/>
        </p:nvSpPr>
        <p:spPr bwMode="auto">
          <a:xfrm>
            <a:off x="612648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46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0.61</a:t>
            </a:r>
            <a:endParaRPr lang="en-US" sz="4600"/>
          </a:p>
        </p:txBody>
      </p:sp>
      <p:sp>
        <p:nvSpPr>
          <p:cNvPr id="1860582620" name="Text 8"/>
          <p:cNvSpPr/>
          <p:nvPr/>
        </p:nvSpPr>
        <p:spPr bwMode="auto">
          <a:xfrm>
            <a:off x="612648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CatBoost recall — it flags the most true readmissions, plus the top AUC (0.764).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429377" name="Shape 0"/>
          <p:cNvSpPr/>
          <p:nvPr/>
        </p:nvSpPr>
        <p:spPr bwMode="auto">
          <a:xfrm>
            <a:off x="502920" y="41148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11430871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9224" y="557784"/>
            <a:ext cx="256032" cy="256032"/>
          </a:xfrm>
          <a:prstGeom prst="rect">
            <a:avLst/>
          </a:prstGeom>
        </p:spPr>
      </p:pic>
      <p:sp>
        <p:nvSpPr>
          <p:cNvPr id="941976203" name="Text 1"/>
          <p:cNvSpPr/>
          <p:nvPr/>
        </p:nvSpPr>
        <p:spPr bwMode="auto">
          <a:xfrm>
            <a:off x="1188720" y="411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B3540"/>
                </a:solidFill>
                <a:latin typeface="Cambria"/>
                <a:ea typeface="Cambria"/>
                <a:cs typeface="Cambria"/>
              </a:rPr>
              <a:t>Best Model — CatBoost in Detail</a:t>
            </a:r>
            <a:endParaRPr lang="en-US" sz="3000"/>
          </a:p>
        </p:txBody>
      </p:sp>
      <p:sp>
        <p:nvSpPr>
          <p:cNvPr id="878296058" name="Shape 2"/>
          <p:cNvSpPr/>
          <p:nvPr/>
        </p:nvSpPr>
        <p:spPr bwMode="auto">
          <a:xfrm>
            <a:off x="502920" y="1325880"/>
            <a:ext cx="4069080" cy="3291767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810242490" name="Image 1" descr="assets/confusion_matrix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3232" y="1481328"/>
            <a:ext cx="3611880" cy="2880287"/>
          </a:xfrm>
          <a:prstGeom prst="rect">
            <a:avLst/>
          </a:prstGeom>
        </p:spPr>
      </p:pic>
      <p:sp>
        <p:nvSpPr>
          <p:cNvPr id="1370723650" name="Text 3"/>
          <p:cNvSpPr/>
          <p:nvPr/>
        </p:nvSpPr>
        <p:spPr bwMode="auto"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Test set: 2,000 patients held out</a:t>
            </a:r>
            <a:endParaRPr lang="en-US" sz="1400"/>
          </a:p>
        </p:txBody>
      </p:sp>
      <p:sp>
        <p:nvSpPr>
          <p:cNvPr id="19998380" name="Shape 4"/>
          <p:cNvSpPr/>
          <p:nvPr/>
        </p:nvSpPr>
        <p:spPr bwMode="auto">
          <a:xfrm>
            <a:off x="4937760" y="1783080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816671263" name="Shape 5"/>
          <p:cNvSpPr/>
          <p:nvPr/>
        </p:nvSpPr>
        <p:spPr bwMode="auto">
          <a:xfrm>
            <a:off x="5102352" y="2029968"/>
            <a:ext cx="457200" cy="457200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95937266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230368" y="2157984"/>
            <a:ext cx="201168" cy="201168"/>
          </a:xfrm>
          <a:prstGeom prst="rect">
            <a:avLst/>
          </a:prstGeom>
        </p:spPr>
      </p:pic>
      <p:sp>
        <p:nvSpPr>
          <p:cNvPr id="475112886" name="Text 6"/>
          <p:cNvSpPr/>
          <p:nvPr/>
        </p:nvSpPr>
        <p:spPr bwMode="auto">
          <a:xfrm>
            <a:off x="5650992" y="18928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00A896"/>
                </a:solidFill>
                <a:latin typeface="Cambria"/>
                <a:ea typeface="Cambria"/>
                <a:cs typeface="Cambria"/>
              </a:rPr>
              <a:t>234 caught</a:t>
            </a:r>
            <a:endParaRPr lang="en-US" sz="2400"/>
          </a:p>
        </p:txBody>
      </p:sp>
      <p:sp>
        <p:nvSpPr>
          <p:cNvPr id="1511253998" name="Text 7"/>
          <p:cNvSpPr/>
          <p:nvPr/>
        </p:nvSpPr>
        <p:spPr bwMode="auto">
          <a:xfrm>
            <a:off x="5650992" y="2286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150">
                <a:solidFill>
                  <a:srgbClr val="5B7780"/>
                </a:solidFill>
                <a:latin typeface="Calibri"/>
                <a:ea typeface="Calibri"/>
                <a:cs typeface="Calibri"/>
              </a:rPr>
              <a:t>of 382 high-risk patients correctly flagged (61% recall)</a:t>
            </a:r>
            <a:endParaRPr lang="en-US" sz="1150"/>
          </a:p>
        </p:txBody>
      </p:sp>
      <p:sp>
        <p:nvSpPr>
          <p:cNvPr id="1300502748" name="Shape 8"/>
          <p:cNvSpPr/>
          <p:nvPr/>
        </p:nvSpPr>
        <p:spPr bwMode="auto">
          <a:xfrm>
            <a:off x="4937760" y="2852928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740927629" name="Shape 9"/>
          <p:cNvSpPr/>
          <p:nvPr/>
        </p:nvSpPr>
        <p:spPr bwMode="auto">
          <a:xfrm>
            <a:off x="5102352" y="3099816"/>
            <a:ext cx="457200" cy="457200"/>
          </a:xfrm>
          <a:prstGeom prst="ellipse">
            <a:avLst/>
          </a:prstGeom>
          <a:solidFill>
            <a:srgbClr val="C0594E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4563269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230368" y="3227832"/>
            <a:ext cx="201168" cy="201168"/>
          </a:xfrm>
          <a:prstGeom prst="rect">
            <a:avLst/>
          </a:prstGeom>
        </p:spPr>
      </p:pic>
      <p:sp>
        <p:nvSpPr>
          <p:cNvPr id="1464821622" name="Text 10"/>
          <p:cNvSpPr/>
          <p:nvPr/>
        </p:nvSpPr>
        <p:spPr bwMode="auto">
          <a:xfrm>
            <a:off x="5650992" y="296265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C0594E"/>
                </a:solidFill>
                <a:latin typeface="Cambria"/>
                <a:ea typeface="Cambria"/>
                <a:cs typeface="Cambria"/>
              </a:rPr>
              <a:t>148 missed</a:t>
            </a:r>
            <a:endParaRPr lang="en-US" sz="2400"/>
          </a:p>
        </p:txBody>
      </p:sp>
      <p:sp>
        <p:nvSpPr>
          <p:cNvPr id="452245615" name="Text 11"/>
          <p:cNvSpPr/>
          <p:nvPr/>
        </p:nvSpPr>
        <p:spPr bwMode="auto">
          <a:xfrm>
            <a:off x="5650992" y="33558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1150">
                <a:solidFill>
                  <a:srgbClr val="5B7780"/>
                </a:solidFill>
                <a:latin typeface="Calibri"/>
                <a:ea typeface="Calibri"/>
                <a:cs typeface="Calibri"/>
              </a:rPr>
              <a:t>high-risk patients still slip through — the key gap to close</a:t>
            </a:r>
            <a:endParaRPr lang="en-US" sz="1150"/>
          </a:p>
        </p:txBody>
      </p:sp>
      <p:sp>
        <p:nvSpPr>
          <p:cNvPr id="1781881679" name="Text 12"/>
          <p:cNvSpPr/>
          <p:nvPr/>
        </p:nvSpPr>
        <p:spPr bwMode="auto">
          <a:xfrm>
            <a:off x="4937760" y="397764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200" b="1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Trade-off: </a:t>
            </a:r>
            <a:r>
              <a:rPr lang="en-US" sz="1200">
                <a:solidFill>
                  <a:srgbClr val="0B3540"/>
                </a:solidFill>
                <a:latin typeface="Calibri"/>
                <a:ea typeface="Calibri"/>
                <a:cs typeface="Calibri"/>
              </a:rPr>
              <a:t>catching more true cases means more false alarms (precision 0.38). For a low-cost intervention like a follow-up call, that trade is clinically worth it.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35E6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466453" name="Shape 0"/>
          <p:cNvSpPr/>
          <p:nvPr/>
        </p:nvSpPr>
        <p:spPr bwMode="auto">
          <a:xfrm>
            <a:off x="7863840" y="-1097280"/>
            <a:ext cx="3291840" cy="3291840"/>
          </a:xfrm>
          <a:prstGeom prst="ellipse">
            <a:avLst/>
          </a:prstGeom>
          <a:ln w="1905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1924960375" name="Shape 1"/>
          <p:cNvSpPr/>
          <p:nvPr/>
        </p:nvSpPr>
        <p:spPr bwMode="auto">
          <a:xfrm>
            <a:off x="548640" y="45720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58008885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4088" y="612648"/>
            <a:ext cx="256032" cy="256032"/>
          </a:xfrm>
          <a:prstGeom prst="rect">
            <a:avLst/>
          </a:prstGeom>
        </p:spPr>
      </p:pic>
      <p:sp>
        <p:nvSpPr>
          <p:cNvPr id="129386432" name="Text 2"/>
          <p:cNvSpPr/>
          <p:nvPr/>
        </p:nvSpPr>
        <p:spPr bwMode="auto">
          <a:xfrm>
            <a:off x="128016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Drives Risk — &amp; What To Do</a:t>
            </a:r>
            <a:endParaRPr lang="en-US" sz="2800"/>
          </a:p>
        </p:txBody>
      </p:sp>
      <p:sp>
        <p:nvSpPr>
          <p:cNvPr id="1211605537" name="Shape 3"/>
          <p:cNvSpPr/>
          <p:nvPr/>
        </p:nvSpPr>
        <p:spPr bwMode="auto">
          <a:xfrm>
            <a:off x="502920" y="1280160"/>
            <a:ext cx="4526280" cy="2806329"/>
          </a:xfrm>
          <a:prstGeom prst="roundRect">
            <a:avLst>
              <a:gd name="adj" fmla="val 3258"/>
            </a:avLst>
          </a:prstGeom>
          <a:solidFill>
            <a:srgbClr val="FFFFFF"/>
          </a:solidFill>
          <a:ln/>
          <a:effectLst>
            <a:outerShdw blurRad="114300" dist="38100" dir="54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55477836" name="Image 1" descr="assets/feature_importanc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5800" y="1417320"/>
            <a:ext cx="4114800" cy="2440569"/>
          </a:xfrm>
          <a:prstGeom prst="rect">
            <a:avLst/>
          </a:prstGeom>
        </p:spPr>
      </p:pic>
      <p:sp>
        <p:nvSpPr>
          <p:cNvPr id="813898261" name="Text 4"/>
          <p:cNvSpPr/>
          <p:nvPr/>
        </p:nvSpPr>
        <p:spPr bwMode="auto">
          <a:xfrm>
            <a:off x="548640" y="4123065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CFEAEC"/>
                </a:solidFill>
                <a:latin typeface="Calibri"/>
                <a:ea typeface="Calibri"/>
                <a:cs typeface="Calibri"/>
              </a:rPr>
              <a:t>Top drivers: age, medication adherence, comorbidity burden</a:t>
            </a:r>
            <a:endParaRPr lang="en-US" sz="1150"/>
          </a:p>
        </p:txBody>
      </p:sp>
      <p:sp>
        <p:nvSpPr>
          <p:cNvPr id="367200670" name="Text 5"/>
          <p:cNvSpPr/>
          <p:nvPr/>
        </p:nvSpPr>
        <p:spPr bwMode="auto">
          <a:xfrm>
            <a:off x="525780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Recommendation</a:t>
            </a:r>
            <a:endParaRPr lang="en-US" sz="1700"/>
          </a:p>
        </p:txBody>
      </p:sp>
      <p:sp>
        <p:nvSpPr>
          <p:cNvPr id="1567875128" name="Shape 6"/>
          <p:cNvSpPr/>
          <p:nvPr/>
        </p:nvSpPr>
        <p:spPr bwMode="auto">
          <a:xfrm>
            <a:off x="5257800" y="1874520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113014989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76672" y="1993392"/>
            <a:ext cx="201168" cy="201168"/>
          </a:xfrm>
          <a:prstGeom prst="rect">
            <a:avLst/>
          </a:prstGeom>
        </p:spPr>
      </p:pic>
      <p:sp>
        <p:nvSpPr>
          <p:cNvPr id="511739035" name="Text 7"/>
          <p:cNvSpPr/>
          <p:nvPr/>
        </p:nvSpPr>
        <p:spPr bwMode="auto">
          <a:xfrm>
            <a:off x="5833872" y="181965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250">
                <a:solidFill>
                  <a:srgbClr val="E6F4F5"/>
                </a:solidFill>
                <a:latin typeface="Calibri"/>
                <a:ea typeface="Calibri"/>
                <a:cs typeface="Calibri"/>
              </a:rPr>
              <a:t>Deploy CatBoost as a discharge risk score — best recall + AUC, and it handles insurance/ZIP categories natively.</a:t>
            </a:r>
            <a:endParaRPr lang="en-US" sz="1250"/>
          </a:p>
        </p:txBody>
      </p:sp>
      <p:sp>
        <p:nvSpPr>
          <p:cNvPr id="2064244397" name="Shape 8"/>
          <p:cNvSpPr/>
          <p:nvPr/>
        </p:nvSpPr>
        <p:spPr bwMode="auto">
          <a:xfrm>
            <a:off x="5257800" y="2807208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63662037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376672" y="2926080"/>
            <a:ext cx="201168" cy="201168"/>
          </a:xfrm>
          <a:prstGeom prst="rect">
            <a:avLst/>
          </a:prstGeom>
        </p:spPr>
      </p:pic>
      <p:sp>
        <p:nvSpPr>
          <p:cNvPr id="1412989211" name="Text 9"/>
          <p:cNvSpPr/>
          <p:nvPr/>
        </p:nvSpPr>
        <p:spPr bwMode="auto">
          <a:xfrm>
            <a:off x="5833872" y="2752343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250">
                <a:solidFill>
                  <a:srgbClr val="E6F4F5"/>
                </a:solidFill>
                <a:latin typeface="Calibri"/>
                <a:ea typeface="Calibri"/>
                <a:cs typeface="Calibri"/>
              </a:rPr>
              <a:t>Risk is multifactor: age, adherence, and comorbidities lead, with social factors adding lift — target interventions accordingly.</a:t>
            </a:r>
            <a:endParaRPr lang="en-US" sz="1250"/>
          </a:p>
        </p:txBody>
      </p:sp>
      <p:sp>
        <p:nvSpPr>
          <p:cNvPr id="372089358" name="Shape 10"/>
          <p:cNvSpPr/>
          <p:nvPr/>
        </p:nvSpPr>
        <p:spPr bwMode="auto">
          <a:xfrm>
            <a:off x="5257800" y="3739896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63500" dist="25400" dir="5400000" sx="100000" sy="100000" kx="0" ky="0" algn="bl" rotWithShape="0">
              <a:srgbClr val="000000">
                <a:alpha val="18000"/>
              </a:srgbClr>
            </a:outerShdw>
          </a:effectLst>
        </p:spPr>
      </p:sp>
      <p:pic>
        <p:nvPicPr>
          <p:cNvPr id="2132360556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376672" y="3858768"/>
            <a:ext cx="201168" cy="201168"/>
          </a:xfrm>
          <a:prstGeom prst="rect">
            <a:avLst/>
          </a:prstGeom>
        </p:spPr>
      </p:pic>
      <p:sp>
        <p:nvSpPr>
          <p:cNvPr id="1177015959" name="Text 11"/>
          <p:cNvSpPr/>
          <p:nvPr/>
        </p:nvSpPr>
        <p:spPr bwMode="auto">
          <a:xfrm>
            <a:off x="5833872" y="368503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  <a:defRPr/>
            </a:pPr>
            <a:r>
              <a:rPr lang="en-US" sz="1250">
                <a:solidFill>
                  <a:srgbClr val="E6F4F5"/>
                </a:solidFill>
                <a:latin typeface="Calibri"/>
                <a:ea typeface="Calibri"/>
                <a:cs typeface="Calibri"/>
              </a:rPr>
              <a:t>Acts before discharge, unlike a static LACE score — enabling proactive follow-up for flagged patients.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MedBridge Cardiac Readmission Analysis</dc:title>
  <dc:subject>PptxGenJS Presentation</dc:subject>
  <dc:creator>MedBridge Analytics</dc:creator>
  <cp:lastModifiedBy/>
  <cp:revision>2</cp:revision>
  <dcterms:created xsi:type="dcterms:W3CDTF">2026-06-12T16:39:23Z</dcterms:created>
  <dcterms:modified xsi:type="dcterms:W3CDTF">2026-06-12T16:43:02Z</dcterms:modified>
</cp:coreProperties>
</file>