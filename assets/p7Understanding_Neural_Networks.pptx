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71859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98193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14178233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711370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4759155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789095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878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4939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898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2406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7346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4249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2660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2180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8590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011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4520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0423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2131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35752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6925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70429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7188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8467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0765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4036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549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961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877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B254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840685" name="Shape 0"/>
          <p:cNvSpPr/>
          <p:nvPr/>
        </p:nvSpPr>
        <p:spPr bwMode="auto">
          <a:xfrm>
            <a:off x="8046720" y="731520"/>
            <a:ext cx="4572000" cy="4572000"/>
          </a:xfrm>
          <a:prstGeom prst="ellipse">
            <a:avLst/>
          </a:prstGeom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907294949" name="Shape 1"/>
          <p:cNvSpPr/>
          <p:nvPr/>
        </p:nvSpPr>
        <p:spPr bwMode="auto">
          <a:xfrm>
            <a:off x="8275320" y="960120"/>
            <a:ext cx="4114800" cy="4114800"/>
          </a:xfrm>
          <a:prstGeom prst="ellipse">
            <a:avLst/>
          </a:prstGeom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1104256661" name="Shape 2"/>
          <p:cNvSpPr/>
          <p:nvPr/>
        </p:nvSpPr>
        <p:spPr bwMode="auto">
          <a:xfrm>
            <a:off x="8503920" y="1188720"/>
            <a:ext cx="3657600" cy="3657600"/>
          </a:xfrm>
          <a:prstGeom prst="ellipse">
            <a:avLst/>
          </a:prstGeom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600220581" name="Shape 3"/>
          <p:cNvSpPr/>
          <p:nvPr/>
        </p:nvSpPr>
        <p:spPr bwMode="auto">
          <a:xfrm>
            <a:off x="8732520" y="1417320"/>
            <a:ext cx="3200400" cy="3200400"/>
          </a:xfrm>
          <a:prstGeom prst="ellipse">
            <a:avLst/>
          </a:prstGeom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1304644807" name="Shape 4"/>
          <p:cNvSpPr/>
          <p:nvPr/>
        </p:nvSpPr>
        <p:spPr bwMode="auto">
          <a:xfrm>
            <a:off x="8961120" y="1645920"/>
            <a:ext cx="2743200" cy="2743200"/>
          </a:xfrm>
          <a:prstGeom prst="ellipse">
            <a:avLst/>
          </a:prstGeom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808492571" name="Shape 5"/>
          <p:cNvSpPr/>
          <p:nvPr/>
        </p:nvSpPr>
        <p:spPr bwMode="auto">
          <a:xfrm>
            <a:off x="9189720" y="1874520"/>
            <a:ext cx="2286000" cy="2286000"/>
          </a:xfrm>
          <a:prstGeom prst="ellipse">
            <a:avLst/>
          </a:prstGeom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263374105" name="Text 6"/>
          <p:cNvSpPr/>
          <p:nvPr/>
        </p:nvSpPr>
        <p:spPr bwMode="auto"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60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ARTIFACT 2  •  AI/ML FOUNDATIONS</a:t>
            </a:r>
            <a:endParaRPr lang="en-US" sz="1300"/>
          </a:p>
        </p:txBody>
      </p:sp>
      <p:sp>
        <p:nvSpPr>
          <p:cNvPr id="157744313" name="Text 7"/>
          <p:cNvSpPr/>
          <p:nvPr/>
        </p:nvSpPr>
        <p:spPr bwMode="auto">
          <a:xfrm>
            <a:off x="731520" y="17373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  <a:defRPr/>
            </a:pPr>
            <a:r>
              <a:rPr lang="en-US" sz="6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Understanding</a:t>
            </a:r>
            <a:endParaRPr lang="en-US" sz="6000"/>
          </a:p>
          <a:p>
            <a:pPr marL="0" indent="0">
              <a:lnSpc>
                <a:spcPct val="95000"/>
              </a:lnSpc>
              <a:buNone/>
              <a:defRPr/>
            </a:pPr>
            <a:r>
              <a:rPr lang="en-US" sz="6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Neural Networks</a:t>
            </a:r>
            <a:endParaRPr lang="en-US" sz="6000"/>
          </a:p>
        </p:txBody>
      </p:sp>
      <p:sp>
        <p:nvSpPr>
          <p:cNvPr id="2018290881" name="Text 8"/>
          <p:cNvSpPr/>
          <p:nvPr/>
        </p:nvSpPr>
        <p:spPr bwMode="auto">
          <a:xfrm>
            <a:off x="731520" y="4297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i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A visual exploration of how layers, neurons, weights, and</a:t>
            </a:r>
            <a:endParaRPr lang="en-US" sz="1800"/>
          </a:p>
          <a:p>
            <a:pPr marL="0" indent="0">
              <a:buNone/>
              <a:defRPr/>
            </a:pPr>
            <a:r>
              <a:rPr lang="en-US" sz="1800" i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learning algorithms work together to make machines learn.</a:t>
            </a:r>
            <a:endParaRPr lang="en-US" sz="1800"/>
          </a:p>
        </p:txBody>
      </p:sp>
      <p:sp>
        <p:nvSpPr>
          <p:cNvPr id="1724294891" name="Shape 9"/>
          <p:cNvSpPr/>
          <p:nvPr/>
        </p:nvSpPr>
        <p:spPr bwMode="auto">
          <a:xfrm>
            <a:off x="731520" y="5852160"/>
            <a:ext cx="54864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89524613" name="Text 10"/>
          <p:cNvSpPr/>
          <p:nvPr/>
        </p:nvSpPr>
        <p:spPr bwMode="auto">
          <a:xfrm>
            <a:off x="91440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Karthikram Senthilvel</a:t>
            </a:r>
            <a:endParaRPr lang="en-US" sz="1600"/>
          </a:p>
        </p:txBody>
      </p:sp>
      <p:sp>
        <p:nvSpPr>
          <p:cNvPr id="938928908" name="Text 11"/>
          <p:cNvSpPr/>
          <p:nvPr/>
        </p:nvSpPr>
        <p:spPr bwMode="auto">
          <a:xfrm>
            <a:off x="91440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Professional AI/ML Portfolio  •  May 2026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584230" name="Text 0"/>
          <p:cNvSpPr/>
          <p:nvPr/>
        </p:nvSpPr>
        <p:spPr bwMode="auto"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4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SLIDE 02  •  THE BIG PICTURE</a:t>
            </a:r>
            <a:endParaRPr lang="en-US" sz="1200"/>
          </a:p>
        </p:txBody>
      </p:sp>
      <p:sp>
        <p:nvSpPr>
          <p:cNvPr id="1674137839" name="Text 1"/>
          <p:cNvSpPr/>
          <p:nvPr/>
        </p:nvSpPr>
        <p:spPr bwMode="auto"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Anatomy of a Neural Network</a:t>
            </a:r>
            <a:endParaRPr lang="en-US" sz="3200"/>
          </a:p>
        </p:txBody>
      </p:sp>
      <p:sp>
        <p:nvSpPr>
          <p:cNvPr id="562985115" name="Text 2"/>
          <p:cNvSpPr/>
          <p:nvPr/>
        </p:nvSpPr>
        <p:spPr bwMode="auto">
          <a:xfrm>
            <a:off x="4572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3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INPUT LAYER</a:t>
            </a:r>
            <a:endParaRPr lang="en-US" sz="1100"/>
          </a:p>
        </p:txBody>
      </p:sp>
      <p:sp>
        <p:nvSpPr>
          <p:cNvPr id="2112980760" name="Text 3"/>
          <p:cNvSpPr/>
          <p:nvPr/>
        </p:nvSpPr>
        <p:spPr bwMode="auto">
          <a:xfrm>
            <a:off x="45720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Features (X₁, X₂)</a:t>
            </a:r>
            <a:endParaRPr lang="en-US" sz="1000"/>
          </a:p>
        </p:txBody>
      </p:sp>
      <p:sp>
        <p:nvSpPr>
          <p:cNvPr id="2628724" name="Text 4"/>
          <p:cNvSpPr/>
          <p:nvPr/>
        </p:nvSpPr>
        <p:spPr bwMode="auto">
          <a:xfrm>
            <a:off x="33832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3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HIDDEN LAYER 1</a:t>
            </a:r>
            <a:endParaRPr lang="en-US" sz="1100"/>
          </a:p>
        </p:txBody>
      </p:sp>
      <p:sp>
        <p:nvSpPr>
          <p:cNvPr id="1908112893" name="Text 5"/>
          <p:cNvSpPr/>
          <p:nvPr/>
        </p:nvSpPr>
        <p:spPr bwMode="auto">
          <a:xfrm>
            <a:off x="338328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4 neurons  •  tanh</a:t>
            </a:r>
            <a:endParaRPr lang="en-US" sz="1000"/>
          </a:p>
        </p:txBody>
      </p:sp>
      <p:sp>
        <p:nvSpPr>
          <p:cNvPr id="576303026" name="Text 6"/>
          <p:cNvSpPr/>
          <p:nvPr/>
        </p:nvSpPr>
        <p:spPr bwMode="auto">
          <a:xfrm>
            <a:off x="630936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3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HIDDEN LAYER 2</a:t>
            </a:r>
            <a:endParaRPr lang="en-US" sz="1100"/>
          </a:p>
        </p:txBody>
      </p:sp>
      <p:sp>
        <p:nvSpPr>
          <p:cNvPr id="1942505707" name="Text 7"/>
          <p:cNvSpPr/>
          <p:nvPr/>
        </p:nvSpPr>
        <p:spPr bwMode="auto">
          <a:xfrm>
            <a:off x="630936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2 neurons  •  tanh</a:t>
            </a:r>
            <a:endParaRPr lang="en-US" sz="1000"/>
          </a:p>
        </p:txBody>
      </p:sp>
      <p:sp>
        <p:nvSpPr>
          <p:cNvPr id="1023552816" name="Text 8"/>
          <p:cNvSpPr/>
          <p:nvPr/>
        </p:nvSpPr>
        <p:spPr bwMode="auto">
          <a:xfrm>
            <a:off x="92354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3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OUTPUT LAYER</a:t>
            </a:r>
            <a:endParaRPr lang="en-US" sz="1100"/>
          </a:p>
        </p:txBody>
      </p:sp>
      <p:sp>
        <p:nvSpPr>
          <p:cNvPr id="1072854393" name="Text 9"/>
          <p:cNvSpPr/>
          <p:nvPr/>
        </p:nvSpPr>
        <p:spPr bwMode="auto">
          <a:xfrm>
            <a:off x="923544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Classification</a:t>
            </a:r>
            <a:endParaRPr lang="en-US" sz="1000"/>
          </a:p>
        </p:txBody>
      </p:sp>
      <p:sp>
        <p:nvSpPr>
          <p:cNvPr id="286825793" name="Shape 10"/>
          <p:cNvSpPr/>
          <p:nvPr/>
        </p:nvSpPr>
        <p:spPr bwMode="auto">
          <a:xfrm>
            <a:off x="1901952" y="3063240"/>
            <a:ext cx="2414016" cy="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606808215" name="Shape 11"/>
          <p:cNvSpPr/>
          <p:nvPr/>
        </p:nvSpPr>
        <p:spPr bwMode="auto">
          <a:xfrm>
            <a:off x="1901952" y="3063240"/>
            <a:ext cx="2414016" cy="27432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573217520" name="Shape 12"/>
          <p:cNvSpPr/>
          <p:nvPr/>
        </p:nvSpPr>
        <p:spPr bwMode="auto">
          <a:xfrm>
            <a:off x="1901952" y="3063240"/>
            <a:ext cx="2414016" cy="109728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512079303" name="Shape 13"/>
          <p:cNvSpPr/>
          <p:nvPr/>
        </p:nvSpPr>
        <p:spPr bwMode="auto">
          <a:xfrm>
            <a:off x="1901952" y="3063240"/>
            <a:ext cx="2414016" cy="192024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283484399" name="Shape 14"/>
          <p:cNvSpPr/>
          <p:nvPr/>
        </p:nvSpPr>
        <p:spPr bwMode="auto">
          <a:xfrm>
            <a:off x="1901952" y="4434840"/>
            <a:ext cx="2414016" cy="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492292907" name="Shape 15"/>
          <p:cNvSpPr/>
          <p:nvPr/>
        </p:nvSpPr>
        <p:spPr bwMode="auto">
          <a:xfrm>
            <a:off x="1901952" y="4434840"/>
            <a:ext cx="2414016" cy="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261334317" name="Shape 16"/>
          <p:cNvSpPr/>
          <p:nvPr/>
        </p:nvSpPr>
        <p:spPr bwMode="auto">
          <a:xfrm>
            <a:off x="1901952" y="4434840"/>
            <a:ext cx="2414016" cy="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530877281" name="Shape 17"/>
          <p:cNvSpPr/>
          <p:nvPr/>
        </p:nvSpPr>
        <p:spPr bwMode="auto">
          <a:xfrm>
            <a:off x="1901952" y="4434840"/>
            <a:ext cx="2414016" cy="54864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98035133" name="Shape 18"/>
          <p:cNvSpPr/>
          <p:nvPr/>
        </p:nvSpPr>
        <p:spPr bwMode="auto">
          <a:xfrm>
            <a:off x="4828032" y="2514600"/>
            <a:ext cx="2414016" cy="54864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889173419" name="Shape 19"/>
          <p:cNvSpPr/>
          <p:nvPr/>
        </p:nvSpPr>
        <p:spPr bwMode="auto">
          <a:xfrm>
            <a:off x="4828032" y="2514600"/>
            <a:ext cx="2414016" cy="192024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93967057" name="Shape 20"/>
          <p:cNvSpPr/>
          <p:nvPr/>
        </p:nvSpPr>
        <p:spPr bwMode="auto">
          <a:xfrm>
            <a:off x="4828032" y="3337560"/>
            <a:ext cx="2414016" cy="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083957223" name="Shape 21"/>
          <p:cNvSpPr/>
          <p:nvPr/>
        </p:nvSpPr>
        <p:spPr bwMode="auto">
          <a:xfrm>
            <a:off x="4828032" y="3337560"/>
            <a:ext cx="2414016" cy="109728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43180415" name="Shape 22"/>
          <p:cNvSpPr/>
          <p:nvPr/>
        </p:nvSpPr>
        <p:spPr bwMode="auto">
          <a:xfrm>
            <a:off x="4828032" y="4160519"/>
            <a:ext cx="2414016" cy="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829865302" name="Shape 23"/>
          <p:cNvSpPr/>
          <p:nvPr/>
        </p:nvSpPr>
        <p:spPr bwMode="auto">
          <a:xfrm>
            <a:off x="4828032" y="4160519"/>
            <a:ext cx="2414016" cy="27432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490161118" name="Shape 24"/>
          <p:cNvSpPr/>
          <p:nvPr/>
        </p:nvSpPr>
        <p:spPr bwMode="auto">
          <a:xfrm>
            <a:off x="4828032" y="4983480"/>
            <a:ext cx="2414016" cy="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127549834" name="Shape 25"/>
          <p:cNvSpPr/>
          <p:nvPr/>
        </p:nvSpPr>
        <p:spPr bwMode="auto">
          <a:xfrm>
            <a:off x="4828032" y="4983480"/>
            <a:ext cx="2414016" cy="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528587308" name="Shape 26"/>
          <p:cNvSpPr/>
          <p:nvPr/>
        </p:nvSpPr>
        <p:spPr bwMode="auto">
          <a:xfrm>
            <a:off x="7754112" y="3063240"/>
            <a:ext cx="2414016" cy="68580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271999381" name="Shape 27"/>
          <p:cNvSpPr/>
          <p:nvPr/>
        </p:nvSpPr>
        <p:spPr bwMode="auto">
          <a:xfrm>
            <a:off x="7754112" y="4434840"/>
            <a:ext cx="2414016" cy="0"/>
          </a:xfrm>
          <a:prstGeom prst="line">
            <a:avLst/>
          </a:prstGeom>
          <a:noFill/>
          <a:ln w="952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2077733362" name="Shape 28"/>
          <p:cNvSpPr/>
          <p:nvPr/>
        </p:nvSpPr>
        <p:spPr bwMode="auto">
          <a:xfrm>
            <a:off x="1389888" y="2807208"/>
            <a:ext cx="512064" cy="512064"/>
          </a:xfrm>
          <a:prstGeom prst="ellipse">
            <a:avLst/>
          </a:prstGeom>
          <a:solidFill>
            <a:srgbClr val="8ECAE6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351618007" name="Shape 29"/>
          <p:cNvSpPr/>
          <p:nvPr/>
        </p:nvSpPr>
        <p:spPr bwMode="auto">
          <a:xfrm>
            <a:off x="1389888" y="4178808"/>
            <a:ext cx="512064" cy="512064"/>
          </a:xfrm>
          <a:prstGeom prst="ellipse">
            <a:avLst/>
          </a:prstGeom>
          <a:solidFill>
            <a:srgbClr val="8ECAE6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892079631" name="Shape 30"/>
          <p:cNvSpPr/>
          <p:nvPr/>
        </p:nvSpPr>
        <p:spPr bwMode="auto">
          <a:xfrm>
            <a:off x="4315968" y="2258568"/>
            <a:ext cx="512064" cy="512064"/>
          </a:xfrm>
          <a:prstGeom prst="ellipse">
            <a:avLst/>
          </a:prstGeom>
          <a:solidFill>
            <a:srgbClr val="D6EAF4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640492468" name="Shape 31"/>
          <p:cNvSpPr/>
          <p:nvPr/>
        </p:nvSpPr>
        <p:spPr bwMode="auto">
          <a:xfrm>
            <a:off x="4315968" y="3081528"/>
            <a:ext cx="512064" cy="512064"/>
          </a:xfrm>
          <a:prstGeom prst="ellipse">
            <a:avLst/>
          </a:prstGeom>
          <a:solidFill>
            <a:srgbClr val="D6EAF4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56221910" name="Shape 32"/>
          <p:cNvSpPr/>
          <p:nvPr/>
        </p:nvSpPr>
        <p:spPr bwMode="auto">
          <a:xfrm>
            <a:off x="4315968" y="3904488"/>
            <a:ext cx="512064" cy="512064"/>
          </a:xfrm>
          <a:prstGeom prst="ellipse">
            <a:avLst/>
          </a:prstGeom>
          <a:solidFill>
            <a:srgbClr val="D6EAF4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010532298" name="Shape 33"/>
          <p:cNvSpPr/>
          <p:nvPr/>
        </p:nvSpPr>
        <p:spPr bwMode="auto">
          <a:xfrm>
            <a:off x="4315968" y="4727448"/>
            <a:ext cx="512064" cy="512064"/>
          </a:xfrm>
          <a:prstGeom prst="ellipse">
            <a:avLst/>
          </a:prstGeom>
          <a:solidFill>
            <a:srgbClr val="D6EAF4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58794019" name="Shape 34"/>
          <p:cNvSpPr/>
          <p:nvPr/>
        </p:nvSpPr>
        <p:spPr bwMode="auto">
          <a:xfrm>
            <a:off x="7242048" y="2807208"/>
            <a:ext cx="512064" cy="512064"/>
          </a:xfrm>
          <a:prstGeom prst="ellipse">
            <a:avLst/>
          </a:prstGeom>
          <a:solidFill>
            <a:srgbClr val="D6EAF4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47431561" name="Shape 35"/>
          <p:cNvSpPr/>
          <p:nvPr/>
        </p:nvSpPr>
        <p:spPr bwMode="auto">
          <a:xfrm>
            <a:off x="7242048" y="4178808"/>
            <a:ext cx="512064" cy="512064"/>
          </a:xfrm>
          <a:prstGeom prst="ellipse">
            <a:avLst/>
          </a:prstGeom>
          <a:solidFill>
            <a:srgbClr val="D6EAF4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02914578" name="Shape 36"/>
          <p:cNvSpPr/>
          <p:nvPr/>
        </p:nvSpPr>
        <p:spPr bwMode="auto">
          <a:xfrm>
            <a:off x="10168128" y="3493008"/>
            <a:ext cx="512064" cy="512064"/>
          </a:xfrm>
          <a:prstGeom prst="ellipse">
            <a:avLst/>
          </a:prstGeom>
          <a:solidFill>
            <a:srgbClr val="FCE4CC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554760979" name="Shape 37"/>
          <p:cNvSpPr/>
          <p:nvPr/>
        </p:nvSpPr>
        <p:spPr bwMode="auto">
          <a:xfrm>
            <a:off x="548640" y="5486400"/>
            <a:ext cx="2697480" cy="82296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72697306" name="Shape 38"/>
          <p:cNvSpPr/>
          <p:nvPr/>
        </p:nvSpPr>
        <p:spPr bwMode="auto">
          <a:xfrm>
            <a:off x="548640" y="5486400"/>
            <a:ext cx="54864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64045278" name="Text 39"/>
          <p:cNvSpPr/>
          <p:nvPr/>
        </p:nvSpPr>
        <p:spPr bwMode="auto">
          <a:xfrm>
            <a:off x="713232" y="5532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3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DATA IN</a:t>
            </a:r>
            <a:endParaRPr lang="en-US" sz="1000"/>
          </a:p>
        </p:txBody>
      </p:sp>
      <p:sp>
        <p:nvSpPr>
          <p:cNvPr id="1216522007" name="Text 40"/>
          <p:cNvSpPr/>
          <p:nvPr/>
        </p:nvSpPr>
        <p:spPr bwMode="auto">
          <a:xfrm>
            <a:off x="713232" y="5779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Raw features flow forward through the network.</a:t>
            </a:r>
            <a:endParaRPr lang="en-US" sz="1100"/>
          </a:p>
        </p:txBody>
      </p:sp>
      <p:sp>
        <p:nvSpPr>
          <p:cNvPr id="785437525" name="Shape 41"/>
          <p:cNvSpPr/>
          <p:nvPr/>
        </p:nvSpPr>
        <p:spPr bwMode="auto">
          <a:xfrm>
            <a:off x="3429000" y="5486400"/>
            <a:ext cx="2697480" cy="82296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81515616" name="Shape 42"/>
          <p:cNvSpPr/>
          <p:nvPr/>
        </p:nvSpPr>
        <p:spPr bwMode="auto">
          <a:xfrm>
            <a:off x="3429000" y="5486400"/>
            <a:ext cx="54864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24167528" name="Text 43"/>
          <p:cNvSpPr/>
          <p:nvPr/>
        </p:nvSpPr>
        <p:spPr bwMode="auto">
          <a:xfrm>
            <a:off x="3593592" y="5532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3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TRANSFORM</a:t>
            </a:r>
            <a:endParaRPr lang="en-US" sz="1000"/>
          </a:p>
        </p:txBody>
      </p:sp>
      <p:sp>
        <p:nvSpPr>
          <p:cNvPr id="1085412475" name="Text 44"/>
          <p:cNvSpPr/>
          <p:nvPr/>
        </p:nvSpPr>
        <p:spPr bwMode="auto">
          <a:xfrm>
            <a:off x="3593592" y="5779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Each neuron applies weight × input + bias, then activation.</a:t>
            </a:r>
            <a:endParaRPr lang="en-US" sz="1100"/>
          </a:p>
        </p:txBody>
      </p:sp>
      <p:sp>
        <p:nvSpPr>
          <p:cNvPr id="1859385220" name="Shape 45"/>
          <p:cNvSpPr/>
          <p:nvPr/>
        </p:nvSpPr>
        <p:spPr bwMode="auto">
          <a:xfrm>
            <a:off x="6309360" y="5486400"/>
            <a:ext cx="2697480" cy="82296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1225020" name="Shape 46"/>
          <p:cNvSpPr/>
          <p:nvPr/>
        </p:nvSpPr>
        <p:spPr bwMode="auto">
          <a:xfrm>
            <a:off x="6309360" y="5486400"/>
            <a:ext cx="54864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87430822" name="Text 47"/>
          <p:cNvSpPr/>
          <p:nvPr/>
        </p:nvSpPr>
        <p:spPr bwMode="auto">
          <a:xfrm>
            <a:off x="6473952" y="5532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3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LEARN</a:t>
            </a:r>
            <a:endParaRPr lang="en-US" sz="1000"/>
          </a:p>
        </p:txBody>
      </p:sp>
      <p:sp>
        <p:nvSpPr>
          <p:cNvPr id="104019098" name="Text 48"/>
          <p:cNvSpPr/>
          <p:nvPr/>
        </p:nvSpPr>
        <p:spPr bwMode="auto">
          <a:xfrm>
            <a:off x="6473952" y="5779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Loss + optimizer adjust weights via backpropagation.</a:t>
            </a:r>
            <a:endParaRPr lang="en-US" sz="1100"/>
          </a:p>
        </p:txBody>
      </p:sp>
      <p:sp>
        <p:nvSpPr>
          <p:cNvPr id="691091053" name="Shape 49"/>
          <p:cNvSpPr/>
          <p:nvPr/>
        </p:nvSpPr>
        <p:spPr bwMode="auto">
          <a:xfrm>
            <a:off x="9189720" y="5486400"/>
            <a:ext cx="2697480" cy="82296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10113755" name="Shape 50"/>
          <p:cNvSpPr/>
          <p:nvPr/>
        </p:nvSpPr>
        <p:spPr bwMode="auto">
          <a:xfrm>
            <a:off x="9189720" y="5486400"/>
            <a:ext cx="54864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08551270" name="Text 51"/>
          <p:cNvSpPr/>
          <p:nvPr/>
        </p:nvSpPr>
        <p:spPr bwMode="auto">
          <a:xfrm>
            <a:off x="9354312" y="5532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3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PREDICT</a:t>
            </a:r>
            <a:endParaRPr lang="en-US" sz="1000"/>
          </a:p>
        </p:txBody>
      </p:sp>
      <p:sp>
        <p:nvSpPr>
          <p:cNvPr id="902118474" name="Text 52"/>
          <p:cNvSpPr/>
          <p:nvPr/>
        </p:nvSpPr>
        <p:spPr bwMode="auto">
          <a:xfrm>
            <a:off x="9354312" y="5779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Output produces the classification or regression result.</a:t>
            </a:r>
            <a:endParaRPr lang="en-US" sz="1100"/>
          </a:p>
        </p:txBody>
      </p:sp>
      <p:sp>
        <p:nvSpPr>
          <p:cNvPr id="931215490" name="Text 53"/>
          <p:cNvSpPr/>
          <p:nvPr/>
        </p:nvSpPr>
        <p:spPr bwMode="auto"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2 / 8</a:t>
            </a:r>
            <a:endParaRPr lang="en-US" sz="1000"/>
          </a:p>
        </p:txBody>
      </p:sp>
      <p:sp>
        <p:nvSpPr>
          <p:cNvPr id="455568671" name="Text 54"/>
          <p:cNvSpPr/>
          <p:nvPr/>
        </p:nvSpPr>
        <p:spPr bwMode="auto"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Understanding Neural Networks  •  Karthikram Senthilvel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97144" name="Text 0"/>
          <p:cNvSpPr/>
          <p:nvPr/>
        </p:nvSpPr>
        <p:spPr bwMode="auto"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4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SLIDE 03  •  COMPONENT 1</a:t>
            </a:r>
            <a:endParaRPr lang="en-US" sz="1200"/>
          </a:p>
        </p:txBody>
      </p:sp>
      <p:sp>
        <p:nvSpPr>
          <p:cNvPr id="1259978648" name="Text 1"/>
          <p:cNvSpPr/>
          <p:nvPr/>
        </p:nvSpPr>
        <p:spPr bwMode="auto"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Layers</a:t>
            </a:r>
            <a:endParaRPr lang="en-US" sz="3200"/>
          </a:p>
        </p:txBody>
      </p:sp>
      <p:sp>
        <p:nvSpPr>
          <p:cNvPr id="1193159414" name="Shape 2"/>
          <p:cNvSpPr/>
          <p:nvPr/>
        </p:nvSpPr>
        <p:spPr bwMode="auto">
          <a:xfrm>
            <a:off x="548640" y="1783080"/>
            <a:ext cx="5120640" cy="4297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98907871" name="Text 3"/>
          <p:cNvSpPr/>
          <p:nvPr/>
        </p:nvSpPr>
        <p:spPr bwMode="auto">
          <a:xfrm>
            <a:off x="8229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40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DEFINITION</a:t>
            </a:r>
            <a:endParaRPr lang="en-US" sz="1200"/>
          </a:p>
        </p:txBody>
      </p:sp>
      <p:sp>
        <p:nvSpPr>
          <p:cNvPr id="500051150" name="Text 4"/>
          <p:cNvSpPr/>
          <p:nvPr/>
        </p:nvSpPr>
        <p:spPr bwMode="auto">
          <a:xfrm>
            <a:off x="822960" y="2377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layer is a group of neurons that process inputs in parallel before passing results to the next layer.</a:t>
            </a:r>
            <a:endParaRPr lang="en-US" sz="1700"/>
          </a:p>
        </p:txBody>
      </p:sp>
      <p:sp>
        <p:nvSpPr>
          <p:cNvPr id="364640202" name="Text 5"/>
          <p:cNvSpPr/>
          <p:nvPr/>
        </p:nvSpPr>
        <p:spPr bwMode="auto">
          <a:xfrm>
            <a:off x="822960" y="41148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 i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Layers stack to transform raw data step-by-step — from low-level features to high-level decision boundaries.</a:t>
            </a:r>
            <a:endParaRPr lang="en-US" sz="1300"/>
          </a:p>
        </p:txBody>
      </p:sp>
      <p:sp>
        <p:nvSpPr>
          <p:cNvPr id="1706814018" name="Shape 6"/>
          <p:cNvSpPr/>
          <p:nvPr/>
        </p:nvSpPr>
        <p:spPr bwMode="auto">
          <a:xfrm>
            <a:off x="6035039" y="1783080"/>
            <a:ext cx="5669280" cy="132588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23437719" name="Shape 7"/>
          <p:cNvSpPr/>
          <p:nvPr/>
        </p:nvSpPr>
        <p:spPr bwMode="auto">
          <a:xfrm>
            <a:off x="6035039" y="1783080"/>
            <a:ext cx="91440" cy="1325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92875556" name="Shape 8"/>
          <p:cNvSpPr/>
          <p:nvPr/>
        </p:nvSpPr>
        <p:spPr bwMode="auto">
          <a:xfrm>
            <a:off x="6355080" y="20574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08494602" name="Text 9"/>
          <p:cNvSpPr/>
          <p:nvPr/>
        </p:nvSpPr>
        <p:spPr bwMode="auto">
          <a:xfrm>
            <a:off x="6355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800"/>
          </a:p>
        </p:txBody>
      </p:sp>
      <p:sp>
        <p:nvSpPr>
          <p:cNvPr id="363082830" name="Text 10"/>
          <p:cNvSpPr/>
          <p:nvPr/>
        </p:nvSpPr>
        <p:spPr bwMode="auto">
          <a:xfrm>
            <a:off x="694944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Input Layer</a:t>
            </a:r>
            <a:endParaRPr lang="en-US" sz="1800"/>
          </a:p>
        </p:txBody>
      </p:sp>
      <p:sp>
        <p:nvSpPr>
          <p:cNvPr id="1888550179" name="Text 11"/>
          <p:cNvSpPr/>
          <p:nvPr/>
        </p:nvSpPr>
        <p:spPr bwMode="auto">
          <a:xfrm>
            <a:off x="6949440" y="23774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Receives raw features. Size = number of inputs (e.g., X₁, X₂ in TF Playground).</a:t>
            </a:r>
            <a:endParaRPr lang="en-US" sz="1200"/>
          </a:p>
        </p:txBody>
      </p:sp>
      <p:sp>
        <p:nvSpPr>
          <p:cNvPr id="1012307276" name="Shape 12"/>
          <p:cNvSpPr/>
          <p:nvPr/>
        </p:nvSpPr>
        <p:spPr bwMode="auto">
          <a:xfrm>
            <a:off x="6035039" y="3246120"/>
            <a:ext cx="5669280" cy="132588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073798216" name="Shape 13"/>
          <p:cNvSpPr/>
          <p:nvPr/>
        </p:nvSpPr>
        <p:spPr bwMode="auto">
          <a:xfrm>
            <a:off x="6035039" y="3246120"/>
            <a:ext cx="91440" cy="1325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4862281" name="Shape 14"/>
          <p:cNvSpPr/>
          <p:nvPr/>
        </p:nvSpPr>
        <p:spPr bwMode="auto">
          <a:xfrm>
            <a:off x="6355080" y="352044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38310716" name="Text 15"/>
          <p:cNvSpPr/>
          <p:nvPr/>
        </p:nvSpPr>
        <p:spPr bwMode="auto">
          <a:xfrm>
            <a:off x="6355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800"/>
          </a:p>
        </p:txBody>
      </p:sp>
      <p:sp>
        <p:nvSpPr>
          <p:cNvPr id="433236812" name="Text 16"/>
          <p:cNvSpPr/>
          <p:nvPr/>
        </p:nvSpPr>
        <p:spPr bwMode="auto">
          <a:xfrm>
            <a:off x="6949440" y="3429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Hidden Layer(s)</a:t>
            </a:r>
            <a:endParaRPr lang="en-US" sz="1800"/>
          </a:p>
        </p:txBody>
      </p:sp>
      <p:sp>
        <p:nvSpPr>
          <p:cNvPr id="1664826188" name="Text 17"/>
          <p:cNvSpPr/>
          <p:nvPr/>
        </p:nvSpPr>
        <p:spPr bwMode="auto">
          <a:xfrm>
            <a:off x="6949440" y="3840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Where learning happens. More layers = more abstract patterns. My model used 4 → 2 neurons.</a:t>
            </a:r>
            <a:endParaRPr lang="en-US" sz="1200"/>
          </a:p>
        </p:txBody>
      </p:sp>
      <p:sp>
        <p:nvSpPr>
          <p:cNvPr id="217102869" name="Shape 18"/>
          <p:cNvSpPr/>
          <p:nvPr/>
        </p:nvSpPr>
        <p:spPr bwMode="auto">
          <a:xfrm>
            <a:off x="6035039" y="4709160"/>
            <a:ext cx="5669280" cy="132588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687147814" name="Shape 19"/>
          <p:cNvSpPr/>
          <p:nvPr/>
        </p:nvSpPr>
        <p:spPr bwMode="auto">
          <a:xfrm>
            <a:off x="6035039" y="4709160"/>
            <a:ext cx="91440" cy="13258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225435783" name="Shape 20"/>
          <p:cNvSpPr/>
          <p:nvPr/>
        </p:nvSpPr>
        <p:spPr bwMode="auto">
          <a:xfrm>
            <a:off x="6355080" y="4983480"/>
            <a:ext cx="457200" cy="457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88020468" name="Text 21"/>
          <p:cNvSpPr/>
          <p:nvPr/>
        </p:nvSpPr>
        <p:spPr bwMode="auto">
          <a:xfrm>
            <a:off x="63550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800"/>
          </a:p>
        </p:txBody>
      </p:sp>
      <p:sp>
        <p:nvSpPr>
          <p:cNvPr id="836654087" name="Text 22"/>
          <p:cNvSpPr/>
          <p:nvPr/>
        </p:nvSpPr>
        <p:spPr bwMode="auto">
          <a:xfrm>
            <a:off x="6949440" y="4892039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Output Layer</a:t>
            </a:r>
            <a:endParaRPr lang="en-US" sz="1800"/>
          </a:p>
        </p:txBody>
      </p:sp>
      <p:sp>
        <p:nvSpPr>
          <p:cNvPr id="1736949512" name="Text 23"/>
          <p:cNvSpPr/>
          <p:nvPr/>
        </p:nvSpPr>
        <p:spPr bwMode="auto">
          <a:xfrm>
            <a:off x="6949440" y="53035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Produces final prediction. For binary classification, a single neuron with a sigmoid-like output.</a:t>
            </a:r>
            <a:endParaRPr lang="en-US" sz="1200"/>
          </a:p>
        </p:txBody>
      </p:sp>
      <p:sp>
        <p:nvSpPr>
          <p:cNvPr id="1454736096" name="Text 24"/>
          <p:cNvSpPr/>
          <p:nvPr/>
        </p:nvSpPr>
        <p:spPr bwMode="auto"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3 / 8</a:t>
            </a:r>
            <a:endParaRPr lang="en-US" sz="1000"/>
          </a:p>
        </p:txBody>
      </p:sp>
      <p:sp>
        <p:nvSpPr>
          <p:cNvPr id="2034340371" name="Text 25"/>
          <p:cNvSpPr/>
          <p:nvPr/>
        </p:nvSpPr>
        <p:spPr bwMode="auto"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Understanding Neural Networks  •  Karthikram Senthilvel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04168" name="Text 0"/>
          <p:cNvSpPr/>
          <p:nvPr/>
        </p:nvSpPr>
        <p:spPr bwMode="auto"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4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SLIDE 04  •  COMPONENTS 2 &amp; 3</a:t>
            </a:r>
            <a:endParaRPr lang="en-US" sz="1200"/>
          </a:p>
        </p:txBody>
      </p:sp>
      <p:sp>
        <p:nvSpPr>
          <p:cNvPr id="1831111915" name="Text 1"/>
          <p:cNvSpPr/>
          <p:nvPr/>
        </p:nvSpPr>
        <p:spPr bwMode="auto"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Neurons &amp; Weights</a:t>
            </a:r>
            <a:endParaRPr lang="en-US" sz="3200"/>
          </a:p>
        </p:txBody>
      </p:sp>
      <p:sp>
        <p:nvSpPr>
          <p:cNvPr id="1726225805" name="Shape 2"/>
          <p:cNvSpPr/>
          <p:nvPr/>
        </p:nvSpPr>
        <p:spPr bwMode="auto">
          <a:xfrm>
            <a:off x="548640" y="1783080"/>
            <a:ext cx="5486400" cy="429768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70546498" name="Shape 3"/>
          <p:cNvSpPr/>
          <p:nvPr/>
        </p:nvSpPr>
        <p:spPr bwMode="auto">
          <a:xfrm>
            <a:off x="548640" y="1783080"/>
            <a:ext cx="54864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12707031" name="Text 4"/>
          <p:cNvSpPr/>
          <p:nvPr/>
        </p:nvSpPr>
        <p:spPr bwMode="auto">
          <a:xfrm>
            <a:off x="777240" y="1801367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 spc="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NEURONS</a:t>
            </a:r>
            <a:endParaRPr lang="en-US" sz="1400"/>
          </a:p>
        </p:txBody>
      </p:sp>
      <p:sp>
        <p:nvSpPr>
          <p:cNvPr id="1743830863" name="Shape 5"/>
          <p:cNvSpPr/>
          <p:nvPr/>
        </p:nvSpPr>
        <p:spPr bwMode="auto">
          <a:xfrm>
            <a:off x="1024128" y="2377440"/>
            <a:ext cx="329184" cy="32918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24083167" name="Text 6"/>
          <p:cNvSpPr/>
          <p:nvPr/>
        </p:nvSpPr>
        <p:spPr bwMode="auto">
          <a:xfrm>
            <a:off x="594360" y="23774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300" b="1" i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x1</a:t>
            </a:r>
            <a:endParaRPr lang="en-US" sz="1300"/>
          </a:p>
        </p:txBody>
      </p:sp>
      <p:sp>
        <p:nvSpPr>
          <p:cNvPr id="636218315" name="Shape 7"/>
          <p:cNvSpPr/>
          <p:nvPr/>
        </p:nvSpPr>
        <p:spPr bwMode="auto">
          <a:xfrm>
            <a:off x="1024128" y="2944368"/>
            <a:ext cx="329184" cy="32918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30610562" name="Text 8"/>
          <p:cNvSpPr/>
          <p:nvPr/>
        </p:nvSpPr>
        <p:spPr bwMode="auto">
          <a:xfrm>
            <a:off x="548640" y="29443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300" b="1" i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x2</a:t>
            </a:r>
            <a:endParaRPr lang="en-US" sz="1300"/>
          </a:p>
        </p:txBody>
      </p:sp>
      <p:sp>
        <p:nvSpPr>
          <p:cNvPr id="1326360992" name="Shape 9"/>
          <p:cNvSpPr/>
          <p:nvPr/>
        </p:nvSpPr>
        <p:spPr bwMode="auto">
          <a:xfrm>
            <a:off x="1024128" y="3813048"/>
            <a:ext cx="329184" cy="32918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31226323" name="Text 10"/>
          <p:cNvSpPr/>
          <p:nvPr/>
        </p:nvSpPr>
        <p:spPr bwMode="auto">
          <a:xfrm>
            <a:off x="548640" y="381304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300" b="1" i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x3</a:t>
            </a:r>
            <a:endParaRPr lang="en-US" sz="1300"/>
          </a:p>
        </p:txBody>
      </p:sp>
      <p:sp>
        <p:nvSpPr>
          <p:cNvPr id="1500855650" name="Shape 11"/>
          <p:cNvSpPr/>
          <p:nvPr/>
        </p:nvSpPr>
        <p:spPr bwMode="auto">
          <a:xfrm flipH="0" flipV="0">
            <a:off x="1353312" y="2542032"/>
            <a:ext cx="1389887" cy="566927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709723835" name="Text 12"/>
          <p:cNvSpPr/>
          <p:nvPr/>
        </p:nvSpPr>
        <p:spPr bwMode="auto">
          <a:xfrm>
            <a:off x="1819656" y="2468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i="1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w1</a:t>
            </a:r>
            <a:endParaRPr lang="en-US" sz="1200"/>
          </a:p>
        </p:txBody>
      </p:sp>
      <p:sp>
        <p:nvSpPr>
          <p:cNvPr id="169621960" name="Shape 13"/>
          <p:cNvSpPr/>
          <p:nvPr/>
        </p:nvSpPr>
        <p:spPr bwMode="auto">
          <a:xfrm>
            <a:off x="1353312" y="3108960"/>
            <a:ext cx="1389888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276420838" name="Text 14"/>
          <p:cNvSpPr/>
          <p:nvPr/>
        </p:nvSpPr>
        <p:spPr bwMode="auto">
          <a:xfrm>
            <a:off x="1679582" y="3136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i="1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w2</a:t>
            </a:r>
            <a:endParaRPr lang="en-US" sz="1200"/>
          </a:p>
        </p:txBody>
      </p:sp>
      <p:sp>
        <p:nvSpPr>
          <p:cNvPr id="1086285686" name="Shape 15"/>
          <p:cNvSpPr/>
          <p:nvPr/>
        </p:nvSpPr>
        <p:spPr bwMode="auto">
          <a:xfrm flipH="0" flipV="1">
            <a:off x="1353312" y="3108960"/>
            <a:ext cx="1389887" cy="868679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14856427" name="Text 16"/>
          <p:cNvSpPr/>
          <p:nvPr/>
        </p:nvSpPr>
        <p:spPr bwMode="auto">
          <a:xfrm>
            <a:off x="1819656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i="1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w3</a:t>
            </a:r>
            <a:endParaRPr lang="en-US" sz="1200"/>
          </a:p>
        </p:txBody>
      </p:sp>
      <p:sp>
        <p:nvSpPr>
          <p:cNvPr id="301925071" name="Shape 17"/>
          <p:cNvSpPr/>
          <p:nvPr/>
        </p:nvSpPr>
        <p:spPr bwMode="auto">
          <a:xfrm>
            <a:off x="2743200" y="274320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C7293"/>
            </a:solidFill>
            <a:prstDash val="solid"/>
          </a:ln>
        </p:spPr>
      </p:sp>
      <p:sp>
        <p:nvSpPr>
          <p:cNvPr id="222312141" name="Text 18"/>
          <p:cNvSpPr/>
          <p:nvPr/>
        </p:nvSpPr>
        <p:spPr bwMode="auto">
          <a:xfrm>
            <a:off x="27432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Σ</a:t>
            </a:r>
            <a:endParaRPr lang="en-US" sz="2600"/>
          </a:p>
        </p:txBody>
      </p:sp>
      <p:sp>
        <p:nvSpPr>
          <p:cNvPr id="1430871813" name="Shape 19"/>
          <p:cNvSpPr/>
          <p:nvPr/>
        </p:nvSpPr>
        <p:spPr bwMode="auto">
          <a:xfrm>
            <a:off x="3520440" y="3108960"/>
            <a:ext cx="5943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19313953" name="Shape 20"/>
          <p:cNvSpPr/>
          <p:nvPr/>
        </p:nvSpPr>
        <p:spPr bwMode="auto">
          <a:xfrm>
            <a:off x="4114800" y="2743200"/>
            <a:ext cx="731520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30875021" name="Text 21"/>
          <p:cNvSpPr/>
          <p:nvPr/>
        </p:nvSpPr>
        <p:spPr bwMode="auto">
          <a:xfrm>
            <a:off x="41148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</a:t>
            </a:r>
            <a:endParaRPr lang="en-US" sz="2600"/>
          </a:p>
        </p:txBody>
      </p:sp>
      <p:sp>
        <p:nvSpPr>
          <p:cNvPr id="508149647" name="Shape 22"/>
          <p:cNvSpPr/>
          <p:nvPr/>
        </p:nvSpPr>
        <p:spPr bwMode="auto">
          <a:xfrm>
            <a:off x="4892039" y="3108960"/>
            <a:ext cx="9144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1072180999" name="Text 23"/>
          <p:cNvSpPr/>
          <p:nvPr/>
        </p:nvSpPr>
        <p:spPr bwMode="auto">
          <a:xfrm>
            <a:off x="5852160" y="29443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i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y</a:t>
            </a:r>
            <a:endParaRPr lang="en-US" sz="1600"/>
          </a:p>
        </p:txBody>
      </p:sp>
      <p:sp>
        <p:nvSpPr>
          <p:cNvPr id="266516739" name="Text 24"/>
          <p:cNvSpPr/>
          <p:nvPr/>
        </p:nvSpPr>
        <p:spPr bwMode="auto">
          <a:xfrm>
            <a:off x="822960" y="4114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200" i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 neuron sums weighted inputs, then applies an activation function to produce an output.</a:t>
            </a:r>
            <a:endParaRPr lang="en-US" sz="1200"/>
          </a:p>
        </p:txBody>
      </p:sp>
      <p:sp>
        <p:nvSpPr>
          <p:cNvPr id="852868162" name="Text 25"/>
          <p:cNvSpPr/>
          <p:nvPr/>
        </p:nvSpPr>
        <p:spPr bwMode="auto">
          <a:xfrm>
            <a:off x="822960" y="4983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B2545"/>
                </a:solidFill>
                <a:latin typeface="Consolas"/>
                <a:ea typeface="Consolas"/>
                <a:cs typeface="Consolas"/>
              </a:rPr>
              <a:t>y = f ( w₁·x₁ + w₂·x₂ + w₃·x₃ + b )</a:t>
            </a:r>
            <a:endParaRPr lang="en-US" sz="1600"/>
          </a:p>
        </p:txBody>
      </p:sp>
      <p:sp>
        <p:nvSpPr>
          <p:cNvPr id="1843601112" name="Text 26"/>
          <p:cNvSpPr/>
          <p:nvPr/>
        </p:nvSpPr>
        <p:spPr bwMode="auto">
          <a:xfrm>
            <a:off x="82296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b = bias term (shifts the activation threshold)</a:t>
            </a:r>
            <a:endParaRPr lang="en-US" sz="1100"/>
          </a:p>
        </p:txBody>
      </p:sp>
      <p:sp>
        <p:nvSpPr>
          <p:cNvPr id="2110987630" name="Shape 27"/>
          <p:cNvSpPr/>
          <p:nvPr/>
        </p:nvSpPr>
        <p:spPr bwMode="auto">
          <a:xfrm>
            <a:off x="6400800" y="1783080"/>
            <a:ext cx="5212080" cy="429768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44022683" name="Shape 28"/>
          <p:cNvSpPr/>
          <p:nvPr/>
        </p:nvSpPr>
        <p:spPr bwMode="auto">
          <a:xfrm>
            <a:off x="6400800" y="1783080"/>
            <a:ext cx="521208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0694505" name="Text 29"/>
          <p:cNvSpPr/>
          <p:nvPr/>
        </p:nvSpPr>
        <p:spPr bwMode="auto">
          <a:xfrm>
            <a:off x="6629400" y="1801367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 spc="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WEIGHTS</a:t>
            </a:r>
            <a:endParaRPr lang="en-US" sz="1400"/>
          </a:p>
        </p:txBody>
      </p:sp>
      <p:sp>
        <p:nvSpPr>
          <p:cNvPr id="422664883" name="Text 30"/>
          <p:cNvSpPr/>
          <p:nvPr/>
        </p:nvSpPr>
        <p:spPr bwMode="auto">
          <a:xfrm>
            <a:off x="6675120" y="2377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strength of every connection between neurons.</a:t>
            </a:r>
            <a:endParaRPr lang="en-US" sz="1600"/>
          </a:p>
        </p:txBody>
      </p:sp>
      <p:sp>
        <p:nvSpPr>
          <p:cNvPr id="1437923305" name="Shape 31"/>
          <p:cNvSpPr/>
          <p:nvPr/>
        </p:nvSpPr>
        <p:spPr bwMode="auto">
          <a:xfrm>
            <a:off x="6675120" y="315468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27729266" name="Text 32"/>
          <p:cNvSpPr/>
          <p:nvPr/>
        </p:nvSpPr>
        <p:spPr bwMode="auto">
          <a:xfrm>
            <a:off x="66751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100"/>
          </a:p>
        </p:txBody>
      </p:sp>
      <p:sp>
        <p:nvSpPr>
          <p:cNvPr id="1493556726" name="Text 33"/>
          <p:cNvSpPr/>
          <p:nvPr/>
        </p:nvSpPr>
        <p:spPr bwMode="auto">
          <a:xfrm>
            <a:off x="7086600" y="3108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Tunable parameters</a:t>
            </a:r>
            <a:endParaRPr lang="en-US" sz="1300"/>
          </a:p>
        </p:txBody>
      </p:sp>
      <p:sp>
        <p:nvSpPr>
          <p:cNvPr id="1705968864" name="Text 34"/>
          <p:cNvSpPr/>
          <p:nvPr/>
        </p:nvSpPr>
        <p:spPr bwMode="auto">
          <a:xfrm>
            <a:off x="7086600" y="34290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Every line in a network diagram is a weight. These are what training adjusts.</a:t>
            </a:r>
            <a:endParaRPr lang="en-US" sz="1100"/>
          </a:p>
        </p:txBody>
      </p:sp>
      <p:sp>
        <p:nvSpPr>
          <p:cNvPr id="15456237" name="Shape 35"/>
          <p:cNvSpPr/>
          <p:nvPr/>
        </p:nvSpPr>
        <p:spPr bwMode="auto">
          <a:xfrm>
            <a:off x="6675120" y="411480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56617967" name="Text 36"/>
          <p:cNvSpPr/>
          <p:nvPr/>
        </p:nvSpPr>
        <p:spPr bwMode="auto">
          <a:xfrm>
            <a:off x="667512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100"/>
          </a:p>
        </p:txBody>
      </p:sp>
      <p:sp>
        <p:nvSpPr>
          <p:cNvPr id="891976931" name="Text 37"/>
          <p:cNvSpPr/>
          <p:nvPr/>
        </p:nvSpPr>
        <p:spPr bwMode="auto">
          <a:xfrm>
            <a:off x="7086600" y="4069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Magnitude = importance</a:t>
            </a:r>
            <a:endParaRPr lang="en-US" sz="1300"/>
          </a:p>
        </p:txBody>
      </p:sp>
      <p:sp>
        <p:nvSpPr>
          <p:cNvPr id="1793546665" name="Text 38"/>
          <p:cNvSpPr/>
          <p:nvPr/>
        </p:nvSpPr>
        <p:spPr bwMode="auto">
          <a:xfrm>
            <a:off x="7086600" y="43891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Large positive weight amplifies an input; large negative weight suppresses it.</a:t>
            </a:r>
            <a:endParaRPr lang="en-US" sz="1100"/>
          </a:p>
        </p:txBody>
      </p:sp>
      <p:sp>
        <p:nvSpPr>
          <p:cNvPr id="524254954" name="Shape 39"/>
          <p:cNvSpPr/>
          <p:nvPr/>
        </p:nvSpPr>
        <p:spPr bwMode="auto">
          <a:xfrm>
            <a:off x="6675120" y="507492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47102108" name="Text 40"/>
          <p:cNvSpPr/>
          <p:nvPr/>
        </p:nvSpPr>
        <p:spPr bwMode="auto">
          <a:xfrm>
            <a:off x="6675120" y="5074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100"/>
          </a:p>
        </p:txBody>
      </p:sp>
      <p:sp>
        <p:nvSpPr>
          <p:cNvPr id="1733659277" name="Text 41"/>
          <p:cNvSpPr/>
          <p:nvPr/>
        </p:nvSpPr>
        <p:spPr bwMode="auto">
          <a:xfrm>
            <a:off x="7086600" y="5029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Sign = direction</a:t>
            </a:r>
            <a:endParaRPr lang="en-US" sz="1300"/>
          </a:p>
        </p:txBody>
      </p:sp>
      <p:sp>
        <p:nvSpPr>
          <p:cNvPr id="434830672" name="Text 42"/>
          <p:cNvSpPr/>
          <p:nvPr/>
        </p:nvSpPr>
        <p:spPr bwMode="auto">
          <a:xfrm>
            <a:off x="7086600" y="53492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TF Playground colors weights blue/orange to show positive vs. negative influence.</a:t>
            </a:r>
            <a:endParaRPr lang="en-US" sz="1100"/>
          </a:p>
        </p:txBody>
      </p:sp>
      <p:sp>
        <p:nvSpPr>
          <p:cNvPr id="796148491" name="Text 43"/>
          <p:cNvSpPr/>
          <p:nvPr/>
        </p:nvSpPr>
        <p:spPr bwMode="auto"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4 / 8</a:t>
            </a:r>
            <a:endParaRPr lang="en-US" sz="1000"/>
          </a:p>
        </p:txBody>
      </p:sp>
      <p:sp>
        <p:nvSpPr>
          <p:cNvPr id="406289950" name="Text 44"/>
          <p:cNvSpPr/>
          <p:nvPr/>
        </p:nvSpPr>
        <p:spPr bwMode="auto"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Understanding Neural Networks  •  Karthikram Senthilvel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672165" name="Text 0"/>
          <p:cNvSpPr/>
          <p:nvPr/>
        </p:nvSpPr>
        <p:spPr bwMode="auto"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4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SLIDE 05  •  COMPONENT 4</a:t>
            </a:r>
            <a:endParaRPr lang="en-US" sz="1200"/>
          </a:p>
        </p:txBody>
      </p:sp>
      <p:sp>
        <p:nvSpPr>
          <p:cNvPr id="1191076360" name="Text 1"/>
          <p:cNvSpPr/>
          <p:nvPr/>
        </p:nvSpPr>
        <p:spPr bwMode="auto"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Activation Functions</a:t>
            </a:r>
            <a:endParaRPr lang="en-US" sz="3200"/>
          </a:p>
        </p:txBody>
      </p:sp>
      <p:sp>
        <p:nvSpPr>
          <p:cNvPr id="1234651916" name="Text 2"/>
          <p:cNvSpPr/>
          <p:nvPr/>
        </p:nvSpPr>
        <p:spPr bwMode="auto"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400" i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nonlinear switch that lets a network learn complex, non-straight boundaries. Without it, stacked layers collapse into a single linear function.</a:t>
            </a:r>
            <a:endParaRPr lang="en-US" sz="1400"/>
          </a:p>
        </p:txBody>
      </p:sp>
      <p:sp>
        <p:nvSpPr>
          <p:cNvPr id="1367607910" name="Shape 3"/>
          <p:cNvSpPr/>
          <p:nvPr/>
        </p:nvSpPr>
        <p:spPr bwMode="auto">
          <a:xfrm>
            <a:off x="548640" y="2606040"/>
            <a:ext cx="2697480" cy="3291840"/>
          </a:xfrm>
          <a:prstGeom prst="rect">
            <a:avLst/>
          </a:prstGeom>
          <a:solidFill>
            <a:srgbClr val="E8EE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15441754" name="Shape 4"/>
          <p:cNvSpPr/>
          <p:nvPr/>
        </p:nvSpPr>
        <p:spPr bwMode="auto">
          <a:xfrm>
            <a:off x="822960" y="2926080"/>
            <a:ext cx="21488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8"/>
            </a:solidFill>
            <a:prstDash val="solid"/>
          </a:ln>
        </p:spPr>
      </p:sp>
      <p:sp>
        <p:nvSpPr>
          <p:cNvPr id="452481840" name="Shape 5"/>
          <p:cNvSpPr/>
          <p:nvPr/>
        </p:nvSpPr>
        <p:spPr bwMode="auto">
          <a:xfrm>
            <a:off x="822960" y="3566160"/>
            <a:ext cx="2148840" cy="0"/>
          </a:xfrm>
          <a:prstGeom prst="line">
            <a:avLst/>
          </a:prstGeom>
          <a:noFill/>
          <a:ln w="6350">
            <a:solidFill>
              <a:srgbClr val="C2CCD6"/>
            </a:solidFill>
            <a:prstDash val="solid"/>
          </a:ln>
        </p:spPr>
      </p:sp>
      <p:sp>
        <p:nvSpPr>
          <p:cNvPr id="145578271" name="Shape 6"/>
          <p:cNvSpPr/>
          <p:nvPr/>
        </p:nvSpPr>
        <p:spPr bwMode="auto">
          <a:xfrm>
            <a:off x="1897380" y="2926080"/>
            <a:ext cx="0" cy="1280160"/>
          </a:xfrm>
          <a:prstGeom prst="line">
            <a:avLst/>
          </a:prstGeom>
          <a:noFill/>
          <a:ln w="6350">
            <a:solidFill>
              <a:srgbClr val="C2CCD6"/>
            </a:solidFill>
            <a:prstDash val="solid"/>
          </a:ln>
        </p:spPr>
      </p:sp>
      <p:sp>
        <p:nvSpPr>
          <p:cNvPr id="329112866" name="Shape 7"/>
          <p:cNvSpPr/>
          <p:nvPr/>
        </p:nvSpPr>
        <p:spPr bwMode="auto">
          <a:xfrm>
            <a:off x="868680" y="4139139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021298119" name="Shape 8"/>
          <p:cNvSpPr/>
          <p:nvPr/>
        </p:nvSpPr>
        <p:spPr bwMode="auto">
          <a:xfrm>
            <a:off x="921434" y="4134379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663268753" name="Shape 9"/>
          <p:cNvSpPr/>
          <p:nvPr/>
        </p:nvSpPr>
        <p:spPr bwMode="auto">
          <a:xfrm>
            <a:off x="974188" y="4128586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749344657" name="Shape 10"/>
          <p:cNvSpPr/>
          <p:nvPr/>
        </p:nvSpPr>
        <p:spPr bwMode="auto">
          <a:xfrm>
            <a:off x="1026941" y="4121554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696745617" name="Shape 11"/>
          <p:cNvSpPr/>
          <p:nvPr/>
        </p:nvSpPr>
        <p:spPr bwMode="auto">
          <a:xfrm>
            <a:off x="1079695" y="4113037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2013946869" name="Shape 12"/>
          <p:cNvSpPr/>
          <p:nvPr/>
        </p:nvSpPr>
        <p:spPr bwMode="auto">
          <a:xfrm>
            <a:off x="1132449" y="4102751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982972094" name="Shape 13"/>
          <p:cNvSpPr/>
          <p:nvPr/>
        </p:nvSpPr>
        <p:spPr bwMode="auto">
          <a:xfrm>
            <a:off x="1185203" y="4090374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382153710" name="Shape 14"/>
          <p:cNvSpPr/>
          <p:nvPr/>
        </p:nvSpPr>
        <p:spPr bwMode="auto">
          <a:xfrm>
            <a:off x="1237957" y="4075545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97347171" name="Shape 15"/>
          <p:cNvSpPr/>
          <p:nvPr/>
        </p:nvSpPr>
        <p:spPr bwMode="auto">
          <a:xfrm>
            <a:off x="1290711" y="4057868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2053432433" name="Shape 16"/>
          <p:cNvSpPr/>
          <p:nvPr/>
        </p:nvSpPr>
        <p:spPr bwMode="auto">
          <a:xfrm>
            <a:off x="1343465" y="4036926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258782482" name="Shape 17"/>
          <p:cNvSpPr/>
          <p:nvPr/>
        </p:nvSpPr>
        <p:spPr bwMode="auto">
          <a:xfrm>
            <a:off x="1396218" y="4012295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528135523" name="Shape 18"/>
          <p:cNvSpPr/>
          <p:nvPr/>
        </p:nvSpPr>
        <p:spPr bwMode="auto">
          <a:xfrm>
            <a:off x="1448972" y="3983570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82822225" name="Shape 19"/>
          <p:cNvSpPr/>
          <p:nvPr/>
        </p:nvSpPr>
        <p:spPr bwMode="auto">
          <a:xfrm>
            <a:off x="1501726" y="3950403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756765986" name="Shape 20"/>
          <p:cNvSpPr/>
          <p:nvPr/>
        </p:nvSpPr>
        <p:spPr bwMode="auto">
          <a:xfrm>
            <a:off x="1554480" y="3912543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625134239" name="Shape 21"/>
          <p:cNvSpPr/>
          <p:nvPr/>
        </p:nvSpPr>
        <p:spPr bwMode="auto">
          <a:xfrm>
            <a:off x="1607234" y="3869887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72142198" name="Shape 22"/>
          <p:cNvSpPr/>
          <p:nvPr/>
        </p:nvSpPr>
        <p:spPr bwMode="auto">
          <a:xfrm>
            <a:off x="1659988" y="3822530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775351145" name="Shape 23"/>
          <p:cNvSpPr/>
          <p:nvPr/>
        </p:nvSpPr>
        <p:spPr bwMode="auto">
          <a:xfrm>
            <a:off x="1712742" y="3770804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978894012" name="Shape 24"/>
          <p:cNvSpPr/>
          <p:nvPr/>
        </p:nvSpPr>
        <p:spPr bwMode="auto">
          <a:xfrm>
            <a:off x="1765495" y="3715306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572670409" name="Shape 25"/>
          <p:cNvSpPr/>
          <p:nvPr/>
        </p:nvSpPr>
        <p:spPr bwMode="auto">
          <a:xfrm>
            <a:off x="1818249" y="3656884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35923463" name="Shape 26"/>
          <p:cNvSpPr/>
          <p:nvPr/>
        </p:nvSpPr>
        <p:spPr bwMode="auto">
          <a:xfrm>
            <a:off x="1871003" y="3596613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970402434" name="Shape 27"/>
          <p:cNvSpPr/>
          <p:nvPr/>
        </p:nvSpPr>
        <p:spPr bwMode="auto">
          <a:xfrm>
            <a:off x="1923757" y="3535707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664475590" name="Shape 28"/>
          <p:cNvSpPr/>
          <p:nvPr/>
        </p:nvSpPr>
        <p:spPr bwMode="auto">
          <a:xfrm>
            <a:off x="1976511" y="3475435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330282880" name="Shape 29"/>
          <p:cNvSpPr/>
          <p:nvPr/>
        </p:nvSpPr>
        <p:spPr bwMode="auto">
          <a:xfrm>
            <a:off x="2029265" y="3417014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2052890379" name="Shape 30"/>
          <p:cNvSpPr/>
          <p:nvPr/>
        </p:nvSpPr>
        <p:spPr bwMode="auto">
          <a:xfrm>
            <a:off x="2082018" y="3361516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249767684" name="Shape 31"/>
          <p:cNvSpPr/>
          <p:nvPr/>
        </p:nvSpPr>
        <p:spPr bwMode="auto">
          <a:xfrm>
            <a:off x="2134772" y="3309790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925484513" name="Shape 32"/>
          <p:cNvSpPr/>
          <p:nvPr/>
        </p:nvSpPr>
        <p:spPr bwMode="auto">
          <a:xfrm>
            <a:off x="2187526" y="3262433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6532747" name="Shape 33"/>
          <p:cNvSpPr/>
          <p:nvPr/>
        </p:nvSpPr>
        <p:spPr bwMode="auto">
          <a:xfrm>
            <a:off x="2240280" y="3219777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5672470" name="Shape 34"/>
          <p:cNvSpPr/>
          <p:nvPr/>
        </p:nvSpPr>
        <p:spPr bwMode="auto">
          <a:xfrm>
            <a:off x="2293034" y="3181917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036105846" name="Shape 35"/>
          <p:cNvSpPr/>
          <p:nvPr/>
        </p:nvSpPr>
        <p:spPr bwMode="auto">
          <a:xfrm>
            <a:off x="2345788" y="3148750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396389730" name="Shape 36"/>
          <p:cNvSpPr/>
          <p:nvPr/>
        </p:nvSpPr>
        <p:spPr bwMode="auto">
          <a:xfrm>
            <a:off x="2398542" y="3120025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73334000" name="Shape 37"/>
          <p:cNvSpPr/>
          <p:nvPr/>
        </p:nvSpPr>
        <p:spPr bwMode="auto">
          <a:xfrm>
            <a:off x="2451295" y="3095394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240741439" name="Shape 38"/>
          <p:cNvSpPr/>
          <p:nvPr/>
        </p:nvSpPr>
        <p:spPr bwMode="auto">
          <a:xfrm>
            <a:off x="2504049" y="3074452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142177697" name="Shape 39"/>
          <p:cNvSpPr/>
          <p:nvPr/>
        </p:nvSpPr>
        <p:spPr bwMode="auto">
          <a:xfrm>
            <a:off x="2556803" y="3056775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078065988" name="Shape 40"/>
          <p:cNvSpPr/>
          <p:nvPr/>
        </p:nvSpPr>
        <p:spPr bwMode="auto">
          <a:xfrm>
            <a:off x="2609557" y="3041946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796688456" name="Shape 41"/>
          <p:cNvSpPr/>
          <p:nvPr/>
        </p:nvSpPr>
        <p:spPr bwMode="auto">
          <a:xfrm>
            <a:off x="2662311" y="3029569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209585480" name="Shape 42"/>
          <p:cNvSpPr/>
          <p:nvPr/>
        </p:nvSpPr>
        <p:spPr bwMode="auto">
          <a:xfrm>
            <a:off x="2715065" y="3019283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564617970" name="Shape 43"/>
          <p:cNvSpPr/>
          <p:nvPr/>
        </p:nvSpPr>
        <p:spPr bwMode="auto">
          <a:xfrm>
            <a:off x="2767818" y="3010766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254655749" name="Shape 44"/>
          <p:cNvSpPr/>
          <p:nvPr/>
        </p:nvSpPr>
        <p:spPr bwMode="auto">
          <a:xfrm>
            <a:off x="2820572" y="3003734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772102347" name="Shape 45"/>
          <p:cNvSpPr/>
          <p:nvPr/>
        </p:nvSpPr>
        <p:spPr bwMode="auto">
          <a:xfrm>
            <a:off x="2873326" y="2997941"/>
            <a:ext cx="52754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319965360" name="Text 46"/>
          <p:cNvSpPr/>
          <p:nvPr/>
        </p:nvSpPr>
        <p:spPr bwMode="auto">
          <a:xfrm>
            <a:off x="822960" y="4297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Sigmoid</a:t>
            </a:r>
            <a:endParaRPr lang="en-US" sz="2200"/>
          </a:p>
        </p:txBody>
      </p:sp>
      <p:sp>
        <p:nvSpPr>
          <p:cNvPr id="301380088" name="Text 47"/>
          <p:cNvSpPr/>
          <p:nvPr/>
        </p:nvSpPr>
        <p:spPr bwMode="auto">
          <a:xfrm>
            <a:off x="822960" y="47548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A6B7F"/>
                </a:solidFill>
                <a:latin typeface="Consolas"/>
                <a:ea typeface="Consolas"/>
                <a:cs typeface="Consolas"/>
              </a:rPr>
              <a:t>Range  (0, 1)</a:t>
            </a:r>
            <a:endParaRPr lang="en-US" sz="1100"/>
          </a:p>
        </p:txBody>
      </p:sp>
      <p:sp>
        <p:nvSpPr>
          <p:cNvPr id="787410128" name="Text 48"/>
          <p:cNvSpPr/>
          <p:nvPr/>
        </p:nvSpPr>
        <p:spPr bwMode="auto">
          <a:xfrm>
            <a:off x="822960" y="5120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200" i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Binary outputs</a:t>
            </a:r>
            <a:endParaRPr lang="en-US" sz="1200"/>
          </a:p>
        </p:txBody>
      </p:sp>
      <p:sp>
        <p:nvSpPr>
          <p:cNvPr id="1735847454" name="Shape 49"/>
          <p:cNvSpPr/>
          <p:nvPr/>
        </p:nvSpPr>
        <p:spPr bwMode="auto">
          <a:xfrm>
            <a:off x="3429000" y="2606040"/>
            <a:ext cx="2697480" cy="3291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58920427" name="Shape 50"/>
          <p:cNvSpPr/>
          <p:nvPr/>
        </p:nvSpPr>
        <p:spPr bwMode="auto">
          <a:xfrm>
            <a:off x="3703320" y="2926080"/>
            <a:ext cx="21488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8"/>
            </a:solidFill>
            <a:prstDash val="solid"/>
          </a:ln>
        </p:spPr>
      </p:sp>
      <p:sp>
        <p:nvSpPr>
          <p:cNvPr id="402778863" name="Shape 51"/>
          <p:cNvSpPr/>
          <p:nvPr/>
        </p:nvSpPr>
        <p:spPr bwMode="auto">
          <a:xfrm>
            <a:off x="3703320" y="3566160"/>
            <a:ext cx="2148840" cy="0"/>
          </a:xfrm>
          <a:prstGeom prst="line">
            <a:avLst/>
          </a:prstGeom>
          <a:noFill/>
          <a:ln w="6350">
            <a:solidFill>
              <a:srgbClr val="C2CCD6"/>
            </a:solidFill>
            <a:prstDash val="solid"/>
          </a:ln>
        </p:spPr>
      </p:sp>
      <p:sp>
        <p:nvSpPr>
          <p:cNvPr id="952194604" name="Shape 52"/>
          <p:cNvSpPr/>
          <p:nvPr/>
        </p:nvSpPr>
        <p:spPr bwMode="auto">
          <a:xfrm>
            <a:off x="4777740" y="2926080"/>
            <a:ext cx="0" cy="1280160"/>
          </a:xfrm>
          <a:prstGeom prst="line">
            <a:avLst/>
          </a:prstGeom>
          <a:noFill/>
          <a:ln w="6350">
            <a:solidFill>
              <a:srgbClr val="C2CCD6"/>
            </a:solidFill>
            <a:prstDash val="solid"/>
          </a:ln>
        </p:spPr>
      </p:sp>
      <p:sp>
        <p:nvSpPr>
          <p:cNvPr id="859016314" name="Shape 53"/>
          <p:cNvSpPr/>
          <p:nvPr/>
        </p:nvSpPr>
        <p:spPr bwMode="auto">
          <a:xfrm>
            <a:off x="3749040" y="4160121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113909768" name="Shape 54"/>
          <p:cNvSpPr/>
          <p:nvPr/>
        </p:nvSpPr>
        <p:spPr bwMode="auto">
          <a:xfrm>
            <a:off x="3801793" y="4159919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946387554" name="Shape 55"/>
          <p:cNvSpPr/>
          <p:nvPr/>
        </p:nvSpPr>
        <p:spPr bwMode="auto">
          <a:xfrm>
            <a:off x="3854548" y="4159615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742327685" name="Shape 56"/>
          <p:cNvSpPr/>
          <p:nvPr/>
        </p:nvSpPr>
        <p:spPr bwMode="auto">
          <a:xfrm>
            <a:off x="3907302" y="4159156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750234780" name="Shape 57"/>
          <p:cNvSpPr/>
          <p:nvPr/>
        </p:nvSpPr>
        <p:spPr bwMode="auto">
          <a:xfrm>
            <a:off x="3960055" y="4158466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601971766" name="Shape 58"/>
          <p:cNvSpPr/>
          <p:nvPr/>
        </p:nvSpPr>
        <p:spPr bwMode="auto">
          <a:xfrm>
            <a:off x="4012809" y="4157426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400454481" name="Shape 59"/>
          <p:cNvSpPr/>
          <p:nvPr/>
        </p:nvSpPr>
        <p:spPr bwMode="auto">
          <a:xfrm>
            <a:off x="4065563" y="4155864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200853330" name="Shape 60"/>
          <p:cNvSpPr/>
          <p:nvPr/>
        </p:nvSpPr>
        <p:spPr bwMode="auto">
          <a:xfrm>
            <a:off x="4118317" y="4153516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2145663369" name="Shape 61"/>
          <p:cNvSpPr/>
          <p:nvPr/>
        </p:nvSpPr>
        <p:spPr bwMode="auto">
          <a:xfrm>
            <a:off x="4171071" y="4149995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755544992" name="Shape 62"/>
          <p:cNvSpPr/>
          <p:nvPr/>
        </p:nvSpPr>
        <p:spPr bwMode="auto">
          <a:xfrm>
            <a:off x="4223825" y="4144727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483707727" name="Shape 63"/>
          <p:cNvSpPr/>
          <p:nvPr/>
        </p:nvSpPr>
        <p:spPr bwMode="auto">
          <a:xfrm>
            <a:off x="4276578" y="4136876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623067438" name="Shape 64"/>
          <p:cNvSpPr/>
          <p:nvPr/>
        </p:nvSpPr>
        <p:spPr bwMode="auto">
          <a:xfrm>
            <a:off x="4329332" y="412524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2060561382" name="Shape 65"/>
          <p:cNvSpPr/>
          <p:nvPr/>
        </p:nvSpPr>
        <p:spPr bwMode="auto">
          <a:xfrm>
            <a:off x="4382086" y="4108134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542818843" name="Shape 66"/>
          <p:cNvSpPr/>
          <p:nvPr/>
        </p:nvSpPr>
        <p:spPr bwMode="auto">
          <a:xfrm>
            <a:off x="4434840" y="408329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11575208" name="Shape 67"/>
          <p:cNvSpPr/>
          <p:nvPr/>
        </p:nvSpPr>
        <p:spPr bwMode="auto">
          <a:xfrm>
            <a:off x="4487594" y="4047832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350447569" name="Shape 68"/>
          <p:cNvSpPr/>
          <p:nvPr/>
        </p:nvSpPr>
        <p:spPr bwMode="auto">
          <a:xfrm>
            <a:off x="4540348" y="3998468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574185661" name="Shape 69"/>
          <p:cNvSpPr/>
          <p:nvPr/>
        </p:nvSpPr>
        <p:spPr bwMode="auto">
          <a:xfrm>
            <a:off x="4593102" y="393207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249587375" name="Shape 70"/>
          <p:cNvSpPr/>
          <p:nvPr/>
        </p:nvSpPr>
        <p:spPr bwMode="auto">
          <a:xfrm>
            <a:off x="4645855" y="3846781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469546629" name="Shape 71"/>
          <p:cNvSpPr/>
          <p:nvPr/>
        </p:nvSpPr>
        <p:spPr bwMode="auto">
          <a:xfrm>
            <a:off x="4698609" y="3743479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490688981" name="Shape 72"/>
          <p:cNvSpPr/>
          <p:nvPr/>
        </p:nvSpPr>
        <p:spPr bwMode="auto">
          <a:xfrm>
            <a:off x="4751363" y="3626907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192517019" name="Shape 73"/>
          <p:cNvSpPr/>
          <p:nvPr/>
        </p:nvSpPr>
        <p:spPr bwMode="auto">
          <a:xfrm>
            <a:off x="4804117" y="3505413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334380637" name="Shape 74"/>
          <p:cNvSpPr/>
          <p:nvPr/>
        </p:nvSpPr>
        <p:spPr bwMode="auto">
          <a:xfrm>
            <a:off x="4856871" y="3388841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992542548" name="Shape 75"/>
          <p:cNvSpPr/>
          <p:nvPr/>
        </p:nvSpPr>
        <p:spPr bwMode="auto">
          <a:xfrm>
            <a:off x="4909625" y="3285539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322273797" name="Shape 76"/>
          <p:cNvSpPr/>
          <p:nvPr/>
        </p:nvSpPr>
        <p:spPr bwMode="auto">
          <a:xfrm>
            <a:off x="4962378" y="320025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856452837" name="Shape 77"/>
          <p:cNvSpPr/>
          <p:nvPr/>
        </p:nvSpPr>
        <p:spPr bwMode="auto">
          <a:xfrm>
            <a:off x="5015132" y="3133852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722157067" name="Shape 78"/>
          <p:cNvSpPr/>
          <p:nvPr/>
        </p:nvSpPr>
        <p:spPr bwMode="auto">
          <a:xfrm>
            <a:off x="5067886" y="3084488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583187216" name="Shape 79"/>
          <p:cNvSpPr/>
          <p:nvPr/>
        </p:nvSpPr>
        <p:spPr bwMode="auto">
          <a:xfrm>
            <a:off x="5120640" y="304903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353747479" name="Shape 80"/>
          <p:cNvSpPr/>
          <p:nvPr/>
        </p:nvSpPr>
        <p:spPr bwMode="auto">
          <a:xfrm>
            <a:off x="5173394" y="3024186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661022177" name="Shape 81"/>
          <p:cNvSpPr/>
          <p:nvPr/>
        </p:nvSpPr>
        <p:spPr bwMode="auto">
          <a:xfrm>
            <a:off x="5226148" y="300708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704538435" name="Shape 82"/>
          <p:cNvSpPr/>
          <p:nvPr/>
        </p:nvSpPr>
        <p:spPr bwMode="auto">
          <a:xfrm>
            <a:off x="5278902" y="2995444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041357740" name="Shape 83"/>
          <p:cNvSpPr/>
          <p:nvPr/>
        </p:nvSpPr>
        <p:spPr bwMode="auto">
          <a:xfrm>
            <a:off x="5331655" y="2987593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547220827" name="Shape 84"/>
          <p:cNvSpPr/>
          <p:nvPr/>
        </p:nvSpPr>
        <p:spPr bwMode="auto">
          <a:xfrm>
            <a:off x="5384409" y="2982325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305494700" name="Shape 85"/>
          <p:cNvSpPr/>
          <p:nvPr/>
        </p:nvSpPr>
        <p:spPr bwMode="auto">
          <a:xfrm>
            <a:off x="5437163" y="2978804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719770875" name="Shape 86"/>
          <p:cNvSpPr/>
          <p:nvPr/>
        </p:nvSpPr>
        <p:spPr bwMode="auto">
          <a:xfrm>
            <a:off x="5489917" y="2976456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90832203" name="Shape 87"/>
          <p:cNvSpPr/>
          <p:nvPr/>
        </p:nvSpPr>
        <p:spPr bwMode="auto">
          <a:xfrm>
            <a:off x="5542671" y="2974894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37179496" name="Shape 88"/>
          <p:cNvSpPr/>
          <p:nvPr/>
        </p:nvSpPr>
        <p:spPr bwMode="auto">
          <a:xfrm>
            <a:off x="5595425" y="2973854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447533315" name="Shape 89"/>
          <p:cNvSpPr/>
          <p:nvPr/>
        </p:nvSpPr>
        <p:spPr bwMode="auto">
          <a:xfrm>
            <a:off x="5648178" y="2973164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836722384" name="Shape 90"/>
          <p:cNvSpPr/>
          <p:nvPr/>
        </p:nvSpPr>
        <p:spPr bwMode="auto">
          <a:xfrm>
            <a:off x="5700932" y="2972705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818372287" name="Shape 91"/>
          <p:cNvSpPr/>
          <p:nvPr/>
        </p:nvSpPr>
        <p:spPr bwMode="auto">
          <a:xfrm>
            <a:off x="5753686" y="2972401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45301608" name="Text 92"/>
          <p:cNvSpPr/>
          <p:nvPr/>
        </p:nvSpPr>
        <p:spPr bwMode="auto">
          <a:xfrm>
            <a:off x="3703320" y="4297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Tanh</a:t>
            </a:r>
            <a:endParaRPr lang="en-US" sz="2200"/>
          </a:p>
        </p:txBody>
      </p:sp>
      <p:sp>
        <p:nvSpPr>
          <p:cNvPr id="928577840" name="Text 93"/>
          <p:cNvSpPr/>
          <p:nvPr/>
        </p:nvSpPr>
        <p:spPr bwMode="auto">
          <a:xfrm>
            <a:off x="3703320" y="47548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Range  (-1, 1)</a:t>
            </a:r>
            <a:endParaRPr lang="en-US" sz="1100"/>
          </a:p>
        </p:txBody>
      </p:sp>
      <p:sp>
        <p:nvSpPr>
          <p:cNvPr id="2143813565" name="Text 94"/>
          <p:cNvSpPr/>
          <p:nvPr/>
        </p:nvSpPr>
        <p:spPr bwMode="auto">
          <a:xfrm>
            <a:off x="3703320" y="5120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20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Used in my model</a:t>
            </a:r>
            <a:endParaRPr lang="en-US" sz="1200"/>
          </a:p>
        </p:txBody>
      </p:sp>
      <p:sp>
        <p:nvSpPr>
          <p:cNvPr id="372291832" name="Shape 95"/>
          <p:cNvSpPr/>
          <p:nvPr/>
        </p:nvSpPr>
        <p:spPr bwMode="auto">
          <a:xfrm>
            <a:off x="6309360" y="2606040"/>
            <a:ext cx="2697480" cy="3291840"/>
          </a:xfrm>
          <a:prstGeom prst="rect">
            <a:avLst/>
          </a:prstGeom>
          <a:solidFill>
            <a:srgbClr val="E8EEF4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64029496" name="Shape 96"/>
          <p:cNvSpPr/>
          <p:nvPr/>
        </p:nvSpPr>
        <p:spPr bwMode="auto">
          <a:xfrm>
            <a:off x="6583680" y="2926080"/>
            <a:ext cx="21488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8"/>
            </a:solidFill>
            <a:prstDash val="solid"/>
          </a:ln>
        </p:spPr>
      </p:sp>
      <p:sp>
        <p:nvSpPr>
          <p:cNvPr id="371265758" name="Shape 97"/>
          <p:cNvSpPr/>
          <p:nvPr/>
        </p:nvSpPr>
        <p:spPr bwMode="auto">
          <a:xfrm>
            <a:off x="6583680" y="3566160"/>
            <a:ext cx="2148840" cy="0"/>
          </a:xfrm>
          <a:prstGeom prst="line">
            <a:avLst/>
          </a:prstGeom>
          <a:noFill/>
          <a:ln w="6350">
            <a:solidFill>
              <a:srgbClr val="C2CCD6"/>
            </a:solidFill>
            <a:prstDash val="solid"/>
          </a:ln>
        </p:spPr>
      </p:sp>
      <p:sp>
        <p:nvSpPr>
          <p:cNvPr id="573044878" name="Shape 98"/>
          <p:cNvSpPr/>
          <p:nvPr/>
        </p:nvSpPr>
        <p:spPr bwMode="auto">
          <a:xfrm>
            <a:off x="7658100" y="2926080"/>
            <a:ext cx="0" cy="1280160"/>
          </a:xfrm>
          <a:prstGeom prst="line">
            <a:avLst/>
          </a:prstGeom>
          <a:noFill/>
          <a:ln w="6350">
            <a:solidFill>
              <a:srgbClr val="C2CCD6"/>
            </a:solidFill>
            <a:prstDash val="solid"/>
          </a:ln>
        </p:spPr>
      </p:sp>
      <p:sp>
        <p:nvSpPr>
          <p:cNvPr id="540099461" name="Shape 99"/>
          <p:cNvSpPr/>
          <p:nvPr/>
        </p:nvSpPr>
        <p:spPr bwMode="auto">
          <a:xfrm>
            <a:off x="6629400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485512066" name="Shape 100"/>
          <p:cNvSpPr/>
          <p:nvPr/>
        </p:nvSpPr>
        <p:spPr bwMode="auto">
          <a:xfrm>
            <a:off x="6682154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655020711" name="Shape 101"/>
          <p:cNvSpPr/>
          <p:nvPr/>
        </p:nvSpPr>
        <p:spPr bwMode="auto">
          <a:xfrm>
            <a:off x="6734908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446779307" name="Shape 102"/>
          <p:cNvSpPr/>
          <p:nvPr/>
        </p:nvSpPr>
        <p:spPr bwMode="auto">
          <a:xfrm>
            <a:off x="6787662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119319280" name="Shape 103"/>
          <p:cNvSpPr/>
          <p:nvPr/>
        </p:nvSpPr>
        <p:spPr bwMode="auto">
          <a:xfrm>
            <a:off x="6840415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886899251" name="Shape 104"/>
          <p:cNvSpPr/>
          <p:nvPr/>
        </p:nvSpPr>
        <p:spPr bwMode="auto">
          <a:xfrm>
            <a:off x="6893168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2080261697" name="Shape 105"/>
          <p:cNvSpPr/>
          <p:nvPr/>
        </p:nvSpPr>
        <p:spPr bwMode="auto">
          <a:xfrm>
            <a:off x="6945923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889318785" name="Shape 106"/>
          <p:cNvSpPr/>
          <p:nvPr/>
        </p:nvSpPr>
        <p:spPr bwMode="auto">
          <a:xfrm>
            <a:off x="6998677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348568805" name="Shape 107"/>
          <p:cNvSpPr/>
          <p:nvPr/>
        </p:nvSpPr>
        <p:spPr bwMode="auto">
          <a:xfrm>
            <a:off x="7051431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1594375564" name="Shape 108"/>
          <p:cNvSpPr/>
          <p:nvPr/>
        </p:nvSpPr>
        <p:spPr bwMode="auto">
          <a:xfrm>
            <a:off x="7104184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318050692" name="Shape 109"/>
          <p:cNvSpPr/>
          <p:nvPr/>
        </p:nvSpPr>
        <p:spPr bwMode="auto">
          <a:xfrm>
            <a:off x="7156938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389118275" name="Shape 110"/>
          <p:cNvSpPr/>
          <p:nvPr/>
        </p:nvSpPr>
        <p:spPr bwMode="auto">
          <a:xfrm>
            <a:off x="7209692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341149769" name="Shape 111"/>
          <p:cNvSpPr/>
          <p:nvPr/>
        </p:nvSpPr>
        <p:spPr bwMode="auto">
          <a:xfrm>
            <a:off x="7262446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756913437" name="Shape 112"/>
          <p:cNvSpPr/>
          <p:nvPr/>
        </p:nvSpPr>
        <p:spPr bwMode="auto">
          <a:xfrm>
            <a:off x="7315200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1306630531" name="Shape 113"/>
          <p:cNvSpPr/>
          <p:nvPr/>
        </p:nvSpPr>
        <p:spPr bwMode="auto">
          <a:xfrm>
            <a:off x="7367954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1052107883" name="Shape 114"/>
          <p:cNvSpPr/>
          <p:nvPr/>
        </p:nvSpPr>
        <p:spPr bwMode="auto">
          <a:xfrm>
            <a:off x="7420708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165604282" name="Shape 115"/>
          <p:cNvSpPr/>
          <p:nvPr/>
        </p:nvSpPr>
        <p:spPr bwMode="auto">
          <a:xfrm>
            <a:off x="7473462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827152112" name="Shape 116"/>
          <p:cNvSpPr/>
          <p:nvPr/>
        </p:nvSpPr>
        <p:spPr bwMode="auto">
          <a:xfrm>
            <a:off x="7526215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581602922" name="Shape 117"/>
          <p:cNvSpPr/>
          <p:nvPr/>
        </p:nvSpPr>
        <p:spPr bwMode="auto">
          <a:xfrm>
            <a:off x="7578969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1823315908" name="Shape 118"/>
          <p:cNvSpPr/>
          <p:nvPr/>
        </p:nvSpPr>
        <p:spPr bwMode="auto">
          <a:xfrm>
            <a:off x="7631723" y="3566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628766693" name="Shape 119"/>
          <p:cNvSpPr/>
          <p:nvPr/>
        </p:nvSpPr>
        <p:spPr bwMode="auto">
          <a:xfrm>
            <a:off x="7684477" y="355092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1022153588" name="Shape 120"/>
          <p:cNvSpPr/>
          <p:nvPr/>
        </p:nvSpPr>
        <p:spPr bwMode="auto">
          <a:xfrm>
            <a:off x="7737231" y="352044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1193769610" name="Shape 121"/>
          <p:cNvSpPr/>
          <p:nvPr/>
        </p:nvSpPr>
        <p:spPr bwMode="auto">
          <a:xfrm>
            <a:off x="7789985" y="34899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1474358398" name="Shape 122"/>
          <p:cNvSpPr/>
          <p:nvPr/>
        </p:nvSpPr>
        <p:spPr bwMode="auto">
          <a:xfrm>
            <a:off x="7842738" y="345948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553564622" name="Shape 123"/>
          <p:cNvSpPr/>
          <p:nvPr/>
        </p:nvSpPr>
        <p:spPr bwMode="auto">
          <a:xfrm>
            <a:off x="7895491" y="342900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777354929" name="Shape 124"/>
          <p:cNvSpPr/>
          <p:nvPr/>
        </p:nvSpPr>
        <p:spPr bwMode="auto">
          <a:xfrm>
            <a:off x="7948246" y="339852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630129384" name="Shape 125"/>
          <p:cNvSpPr/>
          <p:nvPr/>
        </p:nvSpPr>
        <p:spPr bwMode="auto">
          <a:xfrm>
            <a:off x="8001000" y="336804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816947371" name="Shape 126"/>
          <p:cNvSpPr/>
          <p:nvPr/>
        </p:nvSpPr>
        <p:spPr bwMode="auto">
          <a:xfrm>
            <a:off x="8053754" y="33375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1907690651" name="Shape 127"/>
          <p:cNvSpPr/>
          <p:nvPr/>
        </p:nvSpPr>
        <p:spPr bwMode="auto">
          <a:xfrm>
            <a:off x="8106508" y="330708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1365281691" name="Shape 128"/>
          <p:cNvSpPr/>
          <p:nvPr/>
        </p:nvSpPr>
        <p:spPr bwMode="auto">
          <a:xfrm>
            <a:off x="8159262" y="327660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774687110" name="Shape 129"/>
          <p:cNvSpPr/>
          <p:nvPr/>
        </p:nvSpPr>
        <p:spPr bwMode="auto">
          <a:xfrm>
            <a:off x="8212015" y="324612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769351132" name="Shape 130"/>
          <p:cNvSpPr/>
          <p:nvPr/>
        </p:nvSpPr>
        <p:spPr bwMode="auto">
          <a:xfrm>
            <a:off x="8264769" y="321564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322005186" name="Shape 131"/>
          <p:cNvSpPr/>
          <p:nvPr/>
        </p:nvSpPr>
        <p:spPr bwMode="auto">
          <a:xfrm>
            <a:off x="8317523" y="31851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51649707" name="Shape 132"/>
          <p:cNvSpPr/>
          <p:nvPr/>
        </p:nvSpPr>
        <p:spPr bwMode="auto">
          <a:xfrm>
            <a:off x="8370277" y="315468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969523226" name="Shape 133"/>
          <p:cNvSpPr/>
          <p:nvPr/>
        </p:nvSpPr>
        <p:spPr bwMode="auto">
          <a:xfrm>
            <a:off x="8423031" y="312420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765334872" name="Shape 134"/>
          <p:cNvSpPr/>
          <p:nvPr/>
        </p:nvSpPr>
        <p:spPr bwMode="auto">
          <a:xfrm>
            <a:off x="8475785" y="309372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371382003" name="Shape 135"/>
          <p:cNvSpPr/>
          <p:nvPr/>
        </p:nvSpPr>
        <p:spPr bwMode="auto">
          <a:xfrm>
            <a:off x="8528538" y="306324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1660803134" name="Shape 136"/>
          <p:cNvSpPr/>
          <p:nvPr/>
        </p:nvSpPr>
        <p:spPr bwMode="auto">
          <a:xfrm>
            <a:off x="8581292" y="303276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931334389" name="Shape 137"/>
          <p:cNvSpPr/>
          <p:nvPr/>
        </p:nvSpPr>
        <p:spPr bwMode="auto">
          <a:xfrm>
            <a:off x="8634046" y="3002280"/>
            <a:ext cx="52754" cy="0"/>
          </a:xfrm>
          <a:prstGeom prst="line">
            <a:avLst/>
          </a:prstGeom>
          <a:noFill/>
          <a:ln w="31750">
            <a:solidFill>
              <a:srgbClr val="13315C"/>
            </a:solidFill>
            <a:prstDash val="solid"/>
          </a:ln>
        </p:spPr>
      </p:sp>
      <p:sp>
        <p:nvSpPr>
          <p:cNvPr id="700658859" name="Text 138"/>
          <p:cNvSpPr/>
          <p:nvPr/>
        </p:nvSpPr>
        <p:spPr bwMode="auto">
          <a:xfrm>
            <a:off x="6583680" y="4297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ReLU</a:t>
            </a:r>
            <a:endParaRPr lang="en-US" sz="2200"/>
          </a:p>
        </p:txBody>
      </p:sp>
      <p:sp>
        <p:nvSpPr>
          <p:cNvPr id="1254130920" name="Text 139"/>
          <p:cNvSpPr/>
          <p:nvPr/>
        </p:nvSpPr>
        <p:spPr bwMode="auto">
          <a:xfrm>
            <a:off x="6583680" y="47548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A6B7F"/>
                </a:solidFill>
                <a:latin typeface="Consolas"/>
                <a:ea typeface="Consolas"/>
                <a:cs typeface="Consolas"/>
              </a:rPr>
              <a:t>Range  [0, ∞)</a:t>
            </a:r>
            <a:endParaRPr lang="en-US" sz="1100"/>
          </a:p>
        </p:txBody>
      </p:sp>
      <p:sp>
        <p:nvSpPr>
          <p:cNvPr id="243948568" name="Text 140"/>
          <p:cNvSpPr/>
          <p:nvPr/>
        </p:nvSpPr>
        <p:spPr bwMode="auto">
          <a:xfrm>
            <a:off x="6583680" y="5120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200" i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Deep networks default</a:t>
            </a:r>
            <a:endParaRPr lang="en-US" sz="1200"/>
          </a:p>
        </p:txBody>
      </p:sp>
      <p:sp>
        <p:nvSpPr>
          <p:cNvPr id="309657166" name="Shape 141"/>
          <p:cNvSpPr/>
          <p:nvPr/>
        </p:nvSpPr>
        <p:spPr bwMode="auto">
          <a:xfrm>
            <a:off x="9189720" y="2606040"/>
            <a:ext cx="2697480" cy="3291840"/>
          </a:xfrm>
          <a:prstGeom prst="rect">
            <a:avLst/>
          </a:prstGeom>
          <a:solidFill>
            <a:srgbClr val="E8EEF4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72858763" name="Shape 142"/>
          <p:cNvSpPr/>
          <p:nvPr/>
        </p:nvSpPr>
        <p:spPr bwMode="auto">
          <a:xfrm>
            <a:off x="9464040" y="2926080"/>
            <a:ext cx="21488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8"/>
            </a:solidFill>
            <a:prstDash val="solid"/>
          </a:ln>
        </p:spPr>
      </p:sp>
      <p:sp>
        <p:nvSpPr>
          <p:cNvPr id="1148032080" name="Shape 143"/>
          <p:cNvSpPr/>
          <p:nvPr/>
        </p:nvSpPr>
        <p:spPr bwMode="auto">
          <a:xfrm>
            <a:off x="9464040" y="3566160"/>
            <a:ext cx="2148840" cy="0"/>
          </a:xfrm>
          <a:prstGeom prst="line">
            <a:avLst/>
          </a:prstGeom>
          <a:noFill/>
          <a:ln w="6350">
            <a:solidFill>
              <a:srgbClr val="C2CCD6"/>
            </a:solidFill>
            <a:prstDash val="solid"/>
          </a:ln>
        </p:spPr>
      </p:sp>
      <p:sp>
        <p:nvSpPr>
          <p:cNvPr id="1343609238" name="Shape 144"/>
          <p:cNvSpPr/>
          <p:nvPr/>
        </p:nvSpPr>
        <p:spPr bwMode="auto">
          <a:xfrm>
            <a:off x="10538460" y="2926080"/>
            <a:ext cx="0" cy="1280160"/>
          </a:xfrm>
          <a:prstGeom prst="line">
            <a:avLst/>
          </a:prstGeom>
          <a:noFill/>
          <a:ln w="6350">
            <a:solidFill>
              <a:srgbClr val="C2CCD6"/>
            </a:solidFill>
            <a:prstDash val="solid"/>
          </a:ln>
        </p:spPr>
      </p:sp>
      <p:sp>
        <p:nvSpPr>
          <p:cNvPr id="413726005" name="Shape 145"/>
          <p:cNvSpPr/>
          <p:nvPr/>
        </p:nvSpPr>
        <p:spPr bwMode="auto">
          <a:xfrm>
            <a:off x="9509760" y="4160519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517402914" name="Shape 146"/>
          <p:cNvSpPr/>
          <p:nvPr/>
        </p:nvSpPr>
        <p:spPr bwMode="auto">
          <a:xfrm>
            <a:off x="9562514" y="413004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38229836" name="Shape 147"/>
          <p:cNvSpPr/>
          <p:nvPr/>
        </p:nvSpPr>
        <p:spPr bwMode="auto">
          <a:xfrm>
            <a:off x="9615268" y="409956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462881341" name="Shape 148"/>
          <p:cNvSpPr/>
          <p:nvPr/>
        </p:nvSpPr>
        <p:spPr bwMode="auto">
          <a:xfrm>
            <a:off x="9668022" y="406908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914133107" name="Shape 149"/>
          <p:cNvSpPr/>
          <p:nvPr/>
        </p:nvSpPr>
        <p:spPr bwMode="auto">
          <a:xfrm>
            <a:off x="9720775" y="403860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517993632" name="Shape 150"/>
          <p:cNvSpPr/>
          <p:nvPr/>
        </p:nvSpPr>
        <p:spPr bwMode="auto">
          <a:xfrm>
            <a:off x="9773529" y="400812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191375551" name="Shape 151"/>
          <p:cNvSpPr/>
          <p:nvPr/>
        </p:nvSpPr>
        <p:spPr bwMode="auto">
          <a:xfrm>
            <a:off x="9826283" y="397764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627509853" name="Shape 152"/>
          <p:cNvSpPr/>
          <p:nvPr/>
        </p:nvSpPr>
        <p:spPr bwMode="auto">
          <a:xfrm>
            <a:off x="9879037" y="394716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945756457" name="Shape 153"/>
          <p:cNvSpPr/>
          <p:nvPr/>
        </p:nvSpPr>
        <p:spPr bwMode="auto">
          <a:xfrm>
            <a:off x="9931791" y="391668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849997084" name="Shape 154"/>
          <p:cNvSpPr/>
          <p:nvPr/>
        </p:nvSpPr>
        <p:spPr bwMode="auto">
          <a:xfrm>
            <a:off x="9984545" y="388620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381872862" name="Shape 155"/>
          <p:cNvSpPr/>
          <p:nvPr/>
        </p:nvSpPr>
        <p:spPr bwMode="auto">
          <a:xfrm>
            <a:off x="10037298" y="385572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34586972" name="Shape 156"/>
          <p:cNvSpPr/>
          <p:nvPr/>
        </p:nvSpPr>
        <p:spPr bwMode="auto">
          <a:xfrm>
            <a:off x="10090052" y="382524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185591377" name="Shape 157"/>
          <p:cNvSpPr/>
          <p:nvPr/>
        </p:nvSpPr>
        <p:spPr bwMode="auto">
          <a:xfrm>
            <a:off x="10142806" y="379476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803212367" name="Shape 158"/>
          <p:cNvSpPr/>
          <p:nvPr/>
        </p:nvSpPr>
        <p:spPr bwMode="auto">
          <a:xfrm>
            <a:off x="10195560" y="376428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565030291" name="Shape 159"/>
          <p:cNvSpPr/>
          <p:nvPr/>
        </p:nvSpPr>
        <p:spPr bwMode="auto">
          <a:xfrm>
            <a:off x="10248314" y="373380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439623138" name="Shape 160"/>
          <p:cNvSpPr/>
          <p:nvPr/>
        </p:nvSpPr>
        <p:spPr bwMode="auto">
          <a:xfrm>
            <a:off x="10301068" y="370332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609948559" name="Shape 161"/>
          <p:cNvSpPr/>
          <p:nvPr/>
        </p:nvSpPr>
        <p:spPr bwMode="auto">
          <a:xfrm>
            <a:off x="10353821" y="3672839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234163849" name="Shape 162"/>
          <p:cNvSpPr/>
          <p:nvPr/>
        </p:nvSpPr>
        <p:spPr bwMode="auto">
          <a:xfrm>
            <a:off x="10406575" y="364236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517587563" name="Shape 163"/>
          <p:cNvSpPr/>
          <p:nvPr/>
        </p:nvSpPr>
        <p:spPr bwMode="auto">
          <a:xfrm>
            <a:off x="10459329" y="361188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627297540" name="Shape 164"/>
          <p:cNvSpPr/>
          <p:nvPr/>
        </p:nvSpPr>
        <p:spPr bwMode="auto">
          <a:xfrm>
            <a:off x="10512083" y="358140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660964612" name="Shape 165"/>
          <p:cNvSpPr/>
          <p:nvPr/>
        </p:nvSpPr>
        <p:spPr bwMode="auto">
          <a:xfrm>
            <a:off x="10564837" y="355092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460167465" name="Shape 166"/>
          <p:cNvSpPr/>
          <p:nvPr/>
        </p:nvSpPr>
        <p:spPr bwMode="auto">
          <a:xfrm>
            <a:off x="10617591" y="352044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786140536" name="Shape 167"/>
          <p:cNvSpPr/>
          <p:nvPr/>
        </p:nvSpPr>
        <p:spPr bwMode="auto">
          <a:xfrm>
            <a:off x="10670345" y="348996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87561700" name="Shape 168"/>
          <p:cNvSpPr/>
          <p:nvPr/>
        </p:nvSpPr>
        <p:spPr bwMode="auto">
          <a:xfrm>
            <a:off x="10723098" y="345948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2101165771" name="Shape 169"/>
          <p:cNvSpPr/>
          <p:nvPr/>
        </p:nvSpPr>
        <p:spPr bwMode="auto">
          <a:xfrm>
            <a:off x="10775852" y="342900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926944726" name="Shape 170"/>
          <p:cNvSpPr/>
          <p:nvPr/>
        </p:nvSpPr>
        <p:spPr bwMode="auto">
          <a:xfrm>
            <a:off x="10828606" y="339852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749382482" name="Shape 171"/>
          <p:cNvSpPr/>
          <p:nvPr/>
        </p:nvSpPr>
        <p:spPr bwMode="auto">
          <a:xfrm>
            <a:off x="10881360" y="336804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456262928" name="Shape 172"/>
          <p:cNvSpPr/>
          <p:nvPr/>
        </p:nvSpPr>
        <p:spPr bwMode="auto">
          <a:xfrm>
            <a:off x="10934114" y="333756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324908859" name="Shape 173"/>
          <p:cNvSpPr/>
          <p:nvPr/>
        </p:nvSpPr>
        <p:spPr bwMode="auto">
          <a:xfrm>
            <a:off x="10986868" y="330708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738766519" name="Shape 174"/>
          <p:cNvSpPr/>
          <p:nvPr/>
        </p:nvSpPr>
        <p:spPr bwMode="auto">
          <a:xfrm>
            <a:off x="11039622" y="327660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334385752" name="Shape 175"/>
          <p:cNvSpPr/>
          <p:nvPr/>
        </p:nvSpPr>
        <p:spPr bwMode="auto">
          <a:xfrm>
            <a:off x="11092375" y="324612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056399352" name="Shape 176"/>
          <p:cNvSpPr/>
          <p:nvPr/>
        </p:nvSpPr>
        <p:spPr bwMode="auto">
          <a:xfrm>
            <a:off x="11145128" y="321564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288259453" name="Shape 177"/>
          <p:cNvSpPr/>
          <p:nvPr/>
        </p:nvSpPr>
        <p:spPr bwMode="auto">
          <a:xfrm>
            <a:off x="11197883" y="318516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902231106" name="Shape 178"/>
          <p:cNvSpPr/>
          <p:nvPr/>
        </p:nvSpPr>
        <p:spPr bwMode="auto">
          <a:xfrm>
            <a:off x="11250637" y="315468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1420287" name="Shape 179"/>
          <p:cNvSpPr/>
          <p:nvPr/>
        </p:nvSpPr>
        <p:spPr bwMode="auto">
          <a:xfrm>
            <a:off x="11303391" y="312420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891240100" name="Shape 180"/>
          <p:cNvSpPr/>
          <p:nvPr/>
        </p:nvSpPr>
        <p:spPr bwMode="auto">
          <a:xfrm>
            <a:off x="11356145" y="309372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058268828" name="Shape 181"/>
          <p:cNvSpPr/>
          <p:nvPr/>
        </p:nvSpPr>
        <p:spPr bwMode="auto">
          <a:xfrm>
            <a:off x="11408898" y="306324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1124887614" name="Shape 182"/>
          <p:cNvSpPr/>
          <p:nvPr/>
        </p:nvSpPr>
        <p:spPr bwMode="auto">
          <a:xfrm>
            <a:off x="11461652" y="303276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325986160" name="Shape 183"/>
          <p:cNvSpPr/>
          <p:nvPr/>
        </p:nvSpPr>
        <p:spPr bwMode="auto">
          <a:xfrm>
            <a:off x="11514406" y="3002280"/>
            <a:ext cx="52754" cy="0"/>
          </a:xfrm>
          <a:prstGeom prst="line">
            <a:avLst/>
          </a:prstGeom>
          <a:noFill/>
          <a:ln w="31750">
            <a:solidFill>
              <a:srgbClr val="0B2545"/>
            </a:solidFill>
            <a:prstDash val="solid"/>
          </a:ln>
        </p:spPr>
      </p:sp>
      <p:sp>
        <p:nvSpPr>
          <p:cNvPr id="2030479635" name="Text 184"/>
          <p:cNvSpPr/>
          <p:nvPr/>
        </p:nvSpPr>
        <p:spPr bwMode="auto">
          <a:xfrm>
            <a:off x="9464040" y="4297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Linear</a:t>
            </a:r>
            <a:endParaRPr lang="en-US" sz="2200"/>
          </a:p>
        </p:txBody>
      </p:sp>
      <p:sp>
        <p:nvSpPr>
          <p:cNvPr id="2133792243" name="Text 185"/>
          <p:cNvSpPr/>
          <p:nvPr/>
        </p:nvSpPr>
        <p:spPr bwMode="auto">
          <a:xfrm>
            <a:off x="9464040" y="47548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A6B7F"/>
                </a:solidFill>
                <a:latin typeface="Consolas"/>
                <a:ea typeface="Consolas"/>
                <a:cs typeface="Consolas"/>
              </a:rPr>
              <a:t>Range  (-∞, ∞)</a:t>
            </a:r>
            <a:endParaRPr lang="en-US" sz="1100"/>
          </a:p>
        </p:txBody>
      </p:sp>
      <p:sp>
        <p:nvSpPr>
          <p:cNvPr id="52034784" name="Text 186"/>
          <p:cNvSpPr/>
          <p:nvPr/>
        </p:nvSpPr>
        <p:spPr bwMode="auto">
          <a:xfrm>
            <a:off x="9464040" y="5120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  <a:defRPr/>
            </a:pPr>
            <a:r>
              <a:rPr lang="en-US" sz="1200" i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Regression output</a:t>
            </a:r>
            <a:endParaRPr lang="en-US" sz="1200"/>
          </a:p>
        </p:txBody>
      </p:sp>
      <p:sp>
        <p:nvSpPr>
          <p:cNvPr id="441357218" name="Text 187"/>
          <p:cNvSpPr/>
          <p:nvPr/>
        </p:nvSpPr>
        <p:spPr bwMode="auto"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Insight: In TF Playground, switching from Linear to Tanh transformed a flat boundary into a curved one — instantly fitting the circle dataset.</a:t>
            </a:r>
            <a:endParaRPr lang="en-US" sz="1200"/>
          </a:p>
        </p:txBody>
      </p:sp>
      <p:sp>
        <p:nvSpPr>
          <p:cNvPr id="1390806959" name="Text 188"/>
          <p:cNvSpPr/>
          <p:nvPr/>
        </p:nvSpPr>
        <p:spPr bwMode="auto"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5 / 8</a:t>
            </a:r>
            <a:endParaRPr lang="en-US" sz="1000"/>
          </a:p>
        </p:txBody>
      </p:sp>
      <p:sp>
        <p:nvSpPr>
          <p:cNvPr id="1341635672" name="Text 189"/>
          <p:cNvSpPr/>
          <p:nvPr/>
        </p:nvSpPr>
        <p:spPr bwMode="auto"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Understanding Neural Networks  •  Karthikram Senthilvel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96112" name="Text 0"/>
          <p:cNvSpPr/>
          <p:nvPr/>
        </p:nvSpPr>
        <p:spPr bwMode="auto"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4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SLIDE 06  •  COMPONENT 5</a:t>
            </a:r>
            <a:endParaRPr lang="en-US" sz="1200"/>
          </a:p>
        </p:txBody>
      </p:sp>
      <p:sp>
        <p:nvSpPr>
          <p:cNvPr id="1885532163" name="Text 1"/>
          <p:cNvSpPr/>
          <p:nvPr/>
        </p:nvSpPr>
        <p:spPr bwMode="auto"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Loss Functions</a:t>
            </a:r>
            <a:endParaRPr lang="en-US" sz="3200"/>
          </a:p>
        </p:txBody>
      </p:sp>
      <p:sp>
        <p:nvSpPr>
          <p:cNvPr id="459777364" name="Text 2"/>
          <p:cNvSpPr/>
          <p:nvPr/>
        </p:nvSpPr>
        <p:spPr bwMode="auto">
          <a:xfrm>
            <a:off x="548640" y="1783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7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How wrong is the model? A single number the network tries to minimize during training.</a:t>
            </a:r>
            <a:endParaRPr lang="en-US" sz="1700"/>
          </a:p>
        </p:txBody>
      </p:sp>
      <p:sp>
        <p:nvSpPr>
          <p:cNvPr id="788930205" name="Text 3"/>
          <p:cNvSpPr/>
          <p:nvPr/>
        </p:nvSpPr>
        <p:spPr bwMode="auto">
          <a:xfrm>
            <a:off x="548640" y="26974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  <a:defRPr/>
            </a:pPr>
            <a:r>
              <a:rPr lang="en-US" sz="13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Loss compares the network's prediction to the true label. Training is the act of nudging weights to push this number down — visible in real-time as the curve drops in TF Playground.</a:t>
            </a:r>
            <a:endParaRPr lang="en-US" sz="1300"/>
          </a:p>
        </p:txBody>
      </p:sp>
      <p:sp>
        <p:nvSpPr>
          <p:cNvPr id="423224839" name="Shape 4"/>
          <p:cNvSpPr/>
          <p:nvPr/>
        </p:nvSpPr>
        <p:spPr bwMode="auto">
          <a:xfrm>
            <a:off x="548640" y="4343400"/>
            <a:ext cx="5303520" cy="1737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94741850" name="Text 5"/>
          <p:cNvSpPr/>
          <p:nvPr/>
        </p:nvSpPr>
        <p:spPr bwMode="auto">
          <a:xfrm>
            <a:off x="7772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40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FROM MY RUN</a:t>
            </a:r>
            <a:endParaRPr lang="en-US" sz="1100"/>
          </a:p>
        </p:txBody>
      </p:sp>
      <p:sp>
        <p:nvSpPr>
          <p:cNvPr id="305090500" name="Text 6"/>
          <p:cNvSpPr/>
          <p:nvPr/>
        </p:nvSpPr>
        <p:spPr bwMode="auto">
          <a:xfrm>
            <a:off x="777240" y="4754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0.512  →  0.003</a:t>
            </a:r>
            <a:endParaRPr lang="en-US" sz="3600"/>
          </a:p>
        </p:txBody>
      </p:sp>
      <p:sp>
        <p:nvSpPr>
          <p:cNvPr id="325766130" name="Text 7"/>
          <p:cNvSpPr/>
          <p:nvPr/>
        </p:nvSpPr>
        <p:spPr bwMode="auto">
          <a:xfrm>
            <a:off x="777240" y="5532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Test loss dropped sharply within ~200 epochs on the circle dataset.</a:t>
            </a:r>
            <a:endParaRPr lang="en-US" sz="1100"/>
          </a:p>
        </p:txBody>
      </p:sp>
      <p:sp>
        <p:nvSpPr>
          <p:cNvPr id="799765931" name="Shape 8"/>
          <p:cNvSpPr/>
          <p:nvPr/>
        </p:nvSpPr>
        <p:spPr bwMode="auto">
          <a:xfrm>
            <a:off x="6400800" y="1783080"/>
            <a:ext cx="5212080" cy="201168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130121582" name="Shape 9"/>
          <p:cNvSpPr/>
          <p:nvPr/>
        </p:nvSpPr>
        <p:spPr bwMode="auto">
          <a:xfrm>
            <a:off x="6400800" y="1783080"/>
            <a:ext cx="91440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70976573" name="Text 10"/>
          <p:cNvSpPr/>
          <p:nvPr/>
        </p:nvSpPr>
        <p:spPr bwMode="auto">
          <a:xfrm>
            <a:off x="672084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4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CLASSIFICATION</a:t>
            </a:r>
            <a:endParaRPr lang="en-US" sz="1100"/>
          </a:p>
        </p:txBody>
      </p:sp>
      <p:sp>
        <p:nvSpPr>
          <p:cNvPr id="153933374" name="Text 11"/>
          <p:cNvSpPr/>
          <p:nvPr/>
        </p:nvSpPr>
        <p:spPr bwMode="auto">
          <a:xfrm>
            <a:off x="672084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Cross-Entropy Loss</a:t>
            </a:r>
            <a:endParaRPr lang="en-US" sz="2200"/>
          </a:p>
        </p:txBody>
      </p:sp>
      <p:sp>
        <p:nvSpPr>
          <p:cNvPr id="1901275570" name="Text 12"/>
          <p:cNvSpPr/>
          <p:nvPr/>
        </p:nvSpPr>
        <p:spPr bwMode="auto">
          <a:xfrm>
            <a:off x="6720840" y="2788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Penalizes confident wrong predictions heavily. The standard for binary/multiclass output.</a:t>
            </a:r>
            <a:endParaRPr lang="en-US" sz="1300"/>
          </a:p>
        </p:txBody>
      </p:sp>
      <p:sp>
        <p:nvSpPr>
          <p:cNvPr id="984272008" name="Shape 13"/>
          <p:cNvSpPr/>
          <p:nvPr/>
        </p:nvSpPr>
        <p:spPr bwMode="auto">
          <a:xfrm>
            <a:off x="6400800" y="4069080"/>
            <a:ext cx="5212080" cy="201168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51585146" name="Shape 14"/>
          <p:cNvSpPr/>
          <p:nvPr/>
        </p:nvSpPr>
        <p:spPr bwMode="auto">
          <a:xfrm>
            <a:off x="6400800" y="4069080"/>
            <a:ext cx="91440" cy="2011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16608788" name="Text 15"/>
          <p:cNvSpPr/>
          <p:nvPr/>
        </p:nvSpPr>
        <p:spPr bwMode="auto">
          <a:xfrm>
            <a:off x="6720840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40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REGRESSION</a:t>
            </a:r>
            <a:endParaRPr lang="en-US" sz="1100"/>
          </a:p>
        </p:txBody>
      </p:sp>
      <p:sp>
        <p:nvSpPr>
          <p:cNvPr id="1749713979" name="Text 16"/>
          <p:cNvSpPr/>
          <p:nvPr/>
        </p:nvSpPr>
        <p:spPr bwMode="auto">
          <a:xfrm>
            <a:off x="672084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Mean Squared Error</a:t>
            </a:r>
            <a:endParaRPr lang="en-US" sz="2200"/>
          </a:p>
        </p:txBody>
      </p:sp>
      <p:sp>
        <p:nvSpPr>
          <p:cNvPr id="1633222059" name="Text 17"/>
          <p:cNvSpPr/>
          <p:nvPr/>
        </p:nvSpPr>
        <p:spPr bwMode="auto">
          <a:xfrm>
            <a:off x="6720840" y="5074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Averages squared differences between predicted and actual values. Standard for continuous outputs.</a:t>
            </a:r>
            <a:endParaRPr lang="en-US" sz="1300"/>
          </a:p>
        </p:txBody>
      </p:sp>
      <p:sp>
        <p:nvSpPr>
          <p:cNvPr id="1079256340" name="Text 18"/>
          <p:cNvSpPr/>
          <p:nvPr/>
        </p:nvSpPr>
        <p:spPr bwMode="auto"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6 / 8</a:t>
            </a:r>
            <a:endParaRPr lang="en-US" sz="1000"/>
          </a:p>
        </p:txBody>
      </p:sp>
      <p:sp>
        <p:nvSpPr>
          <p:cNvPr id="209156435" name="Text 19"/>
          <p:cNvSpPr/>
          <p:nvPr/>
        </p:nvSpPr>
        <p:spPr bwMode="auto"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Understanding Neural Networks  •  Karthikram Senthilvel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717526" name="Text 0"/>
          <p:cNvSpPr/>
          <p:nvPr/>
        </p:nvSpPr>
        <p:spPr bwMode="auto"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4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SLIDE 07  •  COMPONENT 6</a:t>
            </a:r>
            <a:endParaRPr lang="en-US" sz="1200"/>
          </a:p>
        </p:txBody>
      </p:sp>
      <p:sp>
        <p:nvSpPr>
          <p:cNvPr id="1743955847" name="Text 1"/>
          <p:cNvSpPr/>
          <p:nvPr/>
        </p:nvSpPr>
        <p:spPr bwMode="auto"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Optimization Algorithms</a:t>
            </a:r>
            <a:endParaRPr lang="en-US" sz="3200"/>
          </a:p>
        </p:txBody>
      </p:sp>
      <p:sp>
        <p:nvSpPr>
          <p:cNvPr id="1879366235" name="Text 2"/>
          <p:cNvSpPr/>
          <p:nvPr/>
        </p:nvSpPr>
        <p:spPr bwMode="auto"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i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recipe for adjusting weights to drive loss down — typically gradient-based.</a:t>
            </a:r>
            <a:endParaRPr lang="en-US" sz="1500"/>
          </a:p>
        </p:txBody>
      </p:sp>
      <p:sp>
        <p:nvSpPr>
          <p:cNvPr id="448752985" name="Shape 3"/>
          <p:cNvSpPr/>
          <p:nvPr/>
        </p:nvSpPr>
        <p:spPr bwMode="auto">
          <a:xfrm>
            <a:off x="548640" y="2331720"/>
            <a:ext cx="3657600" cy="3566160"/>
          </a:xfrm>
          <a:prstGeom prst="rect">
            <a:avLst/>
          </a:prstGeom>
          <a:solidFill>
            <a:srgbClr val="E8EE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8055916" name="Shape 4"/>
          <p:cNvSpPr/>
          <p:nvPr/>
        </p:nvSpPr>
        <p:spPr bwMode="auto">
          <a:xfrm>
            <a:off x="1920240" y="2697480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03665727" name="Text 5"/>
          <p:cNvSpPr/>
          <p:nvPr/>
        </p:nvSpPr>
        <p:spPr bwMode="auto">
          <a:xfrm>
            <a:off x="192024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↓</a:t>
            </a:r>
            <a:endParaRPr lang="en-US" sz="3600"/>
          </a:p>
        </p:txBody>
      </p:sp>
      <p:sp>
        <p:nvSpPr>
          <p:cNvPr id="788111703" name="Text 6"/>
          <p:cNvSpPr/>
          <p:nvPr/>
        </p:nvSpPr>
        <p:spPr bwMode="auto">
          <a:xfrm>
            <a:off x="82296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9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Gradient Descent</a:t>
            </a:r>
            <a:endParaRPr lang="en-US" sz="1900"/>
          </a:p>
        </p:txBody>
      </p:sp>
      <p:sp>
        <p:nvSpPr>
          <p:cNvPr id="950359791" name="Text 7"/>
          <p:cNvSpPr/>
          <p:nvPr/>
        </p:nvSpPr>
        <p:spPr bwMode="auto">
          <a:xfrm>
            <a:off x="822960" y="4297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foundational idea: compute the slope of loss with respect to each weight, then step downhill.</a:t>
            </a:r>
            <a:endParaRPr lang="en-US" sz="1200"/>
          </a:p>
        </p:txBody>
      </p:sp>
      <p:sp>
        <p:nvSpPr>
          <p:cNvPr id="32606711" name="Shape 8"/>
          <p:cNvSpPr/>
          <p:nvPr/>
        </p:nvSpPr>
        <p:spPr bwMode="auto">
          <a:xfrm>
            <a:off x="1005840" y="5394960"/>
            <a:ext cx="27432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3883667" name="Text 9"/>
          <p:cNvSpPr/>
          <p:nvPr/>
        </p:nvSpPr>
        <p:spPr bwMode="auto">
          <a:xfrm>
            <a:off x="100584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size = learning rate</a:t>
            </a:r>
            <a:endParaRPr lang="en-US" sz="1000"/>
          </a:p>
        </p:txBody>
      </p:sp>
      <p:sp>
        <p:nvSpPr>
          <p:cNvPr id="857323574" name="Shape 10"/>
          <p:cNvSpPr/>
          <p:nvPr/>
        </p:nvSpPr>
        <p:spPr bwMode="auto">
          <a:xfrm>
            <a:off x="4434840" y="2331720"/>
            <a:ext cx="3657600" cy="3566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26674180" name="Shape 11"/>
          <p:cNvSpPr/>
          <p:nvPr/>
        </p:nvSpPr>
        <p:spPr bwMode="auto">
          <a:xfrm>
            <a:off x="5806440" y="269748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02499015" name="Text 12"/>
          <p:cNvSpPr/>
          <p:nvPr/>
        </p:nvSpPr>
        <p:spPr bwMode="auto">
          <a:xfrm>
            <a:off x="580644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⚡</a:t>
            </a:r>
            <a:endParaRPr lang="en-US" sz="3600"/>
          </a:p>
        </p:txBody>
      </p:sp>
      <p:sp>
        <p:nvSpPr>
          <p:cNvPr id="1302226891" name="Text 13"/>
          <p:cNvSpPr/>
          <p:nvPr/>
        </p:nvSpPr>
        <p:spPr bwMode="auto">
          <a:xfrm>
            <a:off x="470916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9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Stochastic GD (SGD)</a:t>
            </a:r>
            <a:endParaRPr lang="en-US" sz="1900"/>
          </a:p>
        </p:txBody>
      </p:sp>
      <p:sp>
        <p:nvSpPr>
          <p:cNvPr id="1000230863" name="Text 14"/>
          <p:cNvSpPr/>
          <p:nvPr/>
        </p:nvSpPr>
        <p:spPr bwMode="auto">
          <a:xfrm>
            <a:off x="4709160" y="4297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Updates weights using mini-batches instead of the whole dataset. Faster, noisier, often better.</a:t>
            </a:r>
            <a:endParaRPr lang="en-US" sz="1200"/>
          </a:p>
        </p:txBody>
      </p:sp>
      <p:sp>
        <p:nvSpPr>
          <p:cNvPr id="839420383" name="Shape 15"/>
          <p:cNvSpPr/>
          <p:nvPr/>
        </p:nvSpPr>
        <p:spPr bwMode="auto">
          <a:xfrm>
            <a:off x="4892039" y="5394960"/>
            <a:ext cx="274320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09427460" name="Text 16"/>
          <p:cNvSpPr/>
          <p:nvPr/>
        </p:nvSpPr>
        <p:spPr bwMode="auto">
          <a:xfrm>
            <a:off x="4892039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Batch size = 10 in my run</a:t>
            </a:r>
            <a:endParaRPr lang="en-US" sz="1000"/>
          </a:p>
        </p:txBody>
      </p:sp>
      <p:sp>
        <p:nvSpPr>
          <p:cNvPr id="548276443" name="Shape 17"/>
          <p:cNvSpPr/>
          <p:nvPr/>
        </p:nvSpPr>
        <p:spPr bwMode="auto">
          <a:xfrm>
            <a:off x="8321039" y="2331720"/>
            <a:ext cx="3657600" cy="3566160"/>
          </a:xfrm>
          <a:prstGeom prst="rect">
            <a:avLst/>
          </a:prstGeom>
          <a:solidFill>
            <a:srgbClr val="E8EEF4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95056266" name="Shape 18"/>
          <p:cNvSpPr/>
          <p:nvPr/>
        </p:nvSpPr>
        <p:spPr bwMode="auto">
          <a:xfrm>
            <a:off x="9692640" y="2697480"/>
            <a:ext cx="914400" cy="9144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603877446" name="Text 19"/>
          <p:cNvSpPr/>
          <p:nvPr/>
        </p:nvSpPr>
        <p:spPr bwMode="auto">
          <a:xfrm>
            <a:off x="969264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★</a:t>
            </a:r>
            <a:endParaRPr lang="en-US" sz="3600"/>
          </a:p>
        </p:txBody>
      </p:sp>
      <p:sp>
        <p:nvSpPr>
          <p:cNvPr id="569532629" name="Text 20"/>
          <p:cNvSpPr/>
          <p:nvPr/>
        </p:nvSpPr>
        <p:spPr bwMode="auto">
          <a:xfrm>
            <a:off x="859536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90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Adam</a:t>
            </a:r>
            <a:endParaRPr lang="en-US" sz="1900"/>
          </a:p>
        </p:txBody>
      </p:sp>
      <p:sp>
        <p:nvSpPr>
          <p:cNvPr id="1634044988" name="Text 21"/>
          <p:cNvSpPr/>
          <p:nvPr/>
        </p:nvSpPr>
        <p:spPr bwMode="auto">
          <a:xfrm>
            <a:off x="8595360" y="4297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Adaptive learning rates per-parameter. The modern default — combines momentum and RMSprop.</a:t>
            </a:r>
            <a:endParaRPr lang="en-US" sz="1200"/>
          </a:p>
        </p:txBody>
      </p:sp>
      <p:sp>
        <p:nvSpPr>
          <p:cNvPr id="718588964" name="Shape 22"/>
          <p:cNvSpPr/>
          <p:nvPr/>
        </p:nvSpPr>
        <p:spPr bwMode="auto">
          <a:xfrm>
            <a:off x="8778240" y="5394960"/>
            <a:ext cx="2743200" cy="3657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40602943" name="Text 23"/>
          <p:cNvSpPr/>
          <p:nvPr/>
        </p:nvSpPr>
        <p:spPr bwMode="auto">
          <a:xfrm>
            <a:off x="877824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Default in most frameworks</a:t>
            </a:r>
            <a:endParaRPr lang="en-US" sz="1000"/>
          </a:p>
        </p:txBody>
      </p:sp>
      <p:sp>
        <p:nvSpPr>
          <p:cNvPr id="1913180991" name="Text 24"/>
          <p:cNvSpPr/>
          <p:nvPr/>
        </p:nvSpPr>
        <p:spPr bwMode="auto"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LEARNING RATE = 0.03 in my Playground run.  Too high → loss oscillates.  Too low → training crawls.</a:t>
            </a:r>
            <a:endParaRPr lang="en-US" sz="1200"/>
          </a:p>
        </p:txBody>
      </p:sp>
      <p:sp>
        <p:nvSpPr>
          <p:cNvPr id="466406850" name="Text 25"/>
          <p:cNvSpPr/>
          <p:nvPr/>
        </p:nvSpPr>
        <p:spPr bwMode="auto"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7 / 8</a:t>
            </a:r>
            <a:endParaRPr lang="en-US" sz="1000"/>
          </a:p>
        </p:txBody>
      </p:sp>
      <p:sp>
        <p:nvSpPr>
          <p:cNvPr id="212415269" name="Text 26"/>
          <p:cNvSpPr/>
          <p:nvPr/>
        </p:nvSpPr>
        <p:spPr bwMode="auto"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Understanding Neural Networks  •  Karthikram Senthilvel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B254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594485" name="Text 0"/>
          <p:cNvSpPr/>
          <p:nvPr/>
        </p:nvSpPr>
        <p:spPr bwMode="auto"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40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SLIDE 08  •  REFLECTION</a:t>
            </a:r>
            <a:endParaRPr lang="en-US" sz="1200"/>
          </a:p>
        </p:txBody>
      </p:sp>
      <p:sp>
        <p:nvSpPr>
          <p:cNvPr id="56928964" name="Text 1"/>
          <p:cNvSpPr/>
          <p:nvPr/>
        </p:nvSpPr>
        <p:spPr bwMode="auto"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Visualizing Matters</a:t>
            </a:r>
            <a:endParaRPr lang="en-US" sz="3600"/>
          </a:p>
        </p:txBody>
      </p:sp>
      <p:sp>
        <p:nvSpPr>
          <p:cNvPr id="1811807468" name="Text 2"/>
          <p:cNvSpPr/>
          <p:nvPr/>
        </p:nvSpPr>
        <p:spPr bwMode="auto">
          <a:xfrm>
            <a:off x="548640" y="1508759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Key insights from training a neural network in TensorFlow Playground.</a:t>
            </a:r>
            <a:endParaRPr lang="en-US" sz="1400"/>
          </a:p>
        </p:txBody>
      </p:sp>
      <p:sp>
        <p:nvSpPr>
          <p:cNvPr id="917843841" name="Shape 3"/>
          <p:cNvSpPr/>
          <p:nvPr/>
        </p:nvSpPr>
        <p:spPr bwMode="auto">
          <a:xfrm>
            <a:off x="548640" y="2103120"/>
            <a:ext cx="5394960" cy="1874520"/>
          </a:xfrm>
          <a:prstGeom prst="rect">
            <a:avLst/>
          </a:prstGeom>
          <a:solidFill>
            <a:srgbClr val="13315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5135344" name="Text 4"/>
          <p:cNvSpPr/>
          <p:nvPr/>
        </p:nvSpPr>
        <p:spPr bwMode="auto">
          <a:xfrm>
            <a:off x="82296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3800"/>
          </a:p>
        </p:txBody>
      </p:sp>
      <p:sp>
        <p:nvSpPr>
          <p:cNvPr id="965262591" name="Text 5"/>
          <p:cNvSpPr/>
          <p:nvPr/>
        </p:nvSpPr>
        <p:spPr bwMode="auto">
          <a:xfrm>
            <a:off x="2286000" y="2377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Architecture shapes capacity</a:t>
            </a:r>
            <a:endParaRPr lang="en-US" sz="1800"/>
          </a:p>
        </p:txBody>
      </p:sp>
      <p:sp>
        <p:nvSpPr>
          <p:cNvPr id="1650673699" name="Text 6"/>
          <p:cNvSpPr/>
          <p:nvPr/>
        </p:nvSpPr>
        <p:spPr bwMode="auto">
          <a:xfrm>
            <a:off x="2286000" y="2971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A 4-2 hidden network solved the circle dataset cleanly; a single neuron could not. Depth and width set what's learnable.</a:t>
            </a:r>
            <a:endParaRPr lang="en-US" sz="1200"/>
          </a:p>
        </p:txBody>
      </p:sp>
      <p:sp>
        <p:nvSpPr>
          <p:cNvPr id="1464873784" name="Shape 7"/>
          <p:cNvSpPr/>
          <p:nvPr/>
        </p:nvSpPr>
        <p:spPr bwMode="auto">
          <a:xfrm>
            <a:off x="6217920" y="2103120"/>
            <a:ext cx="5394960" cy="1874520"/>
          </a:xfrm>
          <a:prstGeom prst="rect">
            <a:avLst/>
          </a:prstGeom>
          <a:solidFill>
            <a:srgbClr val="13315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41494173" name="Text 8"/>
          <p:cNvSpPr/>
          <p:nvPr/>
        </p:nvSpPr>
        <p:spPr bwMode="auto">
          <a:xfrm>
            <a:off x="6492240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3800"/>
          </a:p>
        </p:txBody>
      </p:sp>
      <p:sp>
        <p:nvSpPr>
          <p:cNvPr id="1136969665" name="Text 9"/>
          <p:cNvSpPr/>
          <p:nvPr/>
        </p:nvSpPr>
        <p:spPr bwMode="auto">
          <a:xfrm>
            <a:off x="7955280" y="2377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Activation choice is decisive</a:t>
            </a:r>
            <a:endParaRPr lang="en-US" sz="1800"/>
          </a:p>
        </p:txBody>
      </p:sp>
      <p:sp>
        <p:nvSpPr>
          <p:cNvPr id="1058194680" name="Text 10"/>
          <p:cNvSpPr/>
          <p:nvPr/>
        </p:nvSpPr>
        <p:spPr bwMode="auto">
          <a:xfrm>
            <a:off x="7955280" y="2971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Tanh produced curved decision boundaries within seconds. Linear activations couldn't bend around the circle at all.</a:t>
            </a:r>
            <a:endParaRPr lang="en-US" sz="1200"/>
          </a:p>
        </p:txBody>
      </p:sp>
      <p:sp>
        <p:nvSpPr>
          <p:cNvPr id="1387303194" name="Shape 11"/>
          <p:cNvSpPr/>
          <p:nvPr/>
        </p:nvSpPr>
        <p:spPr bwMode="auto">
          <a:xfrm>
            <a:off x="548640" y="4251960"/>
            <a:ext cx="5394960" cy="1874520"/>
          </a:xfrm>
          <a:prstGeom prst="rect">
            <a:avLst/>
          </a:prstGeom>
          <a:solidFill>
            <a:srgbClr val="13315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373340193" name="Text 12"/>
          <p:cNvSpPr/>
          <p:nvPr/>
        </p:nvSpPr>
        <p:spPr bwMode="auto">
          <a:xfrm>
            <a:off x="822960" y="4434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3800"/>
          </a:p>
        </p:txBody>
      </p:sp>
      <p:sp>
        <p:nvSpPr>
          <p:cNvPr id="2124292276" name="Text 13"/>
          <p:cNvSpPr/>
          <p:nvPr/>
        </p:nvSpPr>
        <p:spPr bwMode="auto">
          <a:xfrm>
            <a:off x="2286000" y="4526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Learning rate is a balancing act</a:t>
            </a:r>
            <a:endParaRPr lang="en-US" sz="1800"/>
          </a:p>
        </p:txBody>
      </p:sp>
      <p:sp>
        <p:nvSpPr>
          <p:cNvPr id="903174711" name="Text 14"/>
          <p:cNvSpPr/>
          <p:nvPr/>
        </p:nvSpPr>
        <p:spPr bwMode="auto">
          <a:xfrm>
            <a:off x="2286000" y="51206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At 0.03, training converged smoothly. Higher values made loss bounce; lower values crawled — visible live in the chart.</a:t>
            </a:r>
            <a:endParaRPr lang="en-US" sz="1200"/>
          </a:p>
        </p:txBody>
      </p:sp>
      <p:sp>
        <p:nvSpPr>
          <p:cNvPr id="250984441" name="Shape 15"/>
          <p:cNvSpPr/>
          <p:nvPr/>
        </p:nvSpPr>
        <p:spPr bwMode="auto">
          <a:xfrm>
            <a:off x="6217920" y="4251960"/>
            <a:ext cx="5394960" cy="1874520"/>
          </a:xfrm>
          <a:prstGeom prst="rect">
            <a:avLst/>
          </a:prstGeom>
          <a:solidFill>
            <a:srgbClr val="13315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11043775" name="Text 16"/>
          <p:cNvSpPr/>
          <p:nvPr/>
        </p:nvSpPr>
        <p:spPr bwMode="auto">
          <a:xfrm>
            <a:off x="6492240" y="4434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3800"/>
          </a:p>
        </p:txBody>
      </p:sp>
      <p:sp>
        <p:nvSpPr>
          <p:cNvPr id="1832699921" name="Text 17"/>
          <p:cNvSpPr/>
          <p:nvPr/>
        </p:nvSpPr>
        <p:spPr bwMode="auto">
          <a:xfrm>
            <a:off x="7955280" y="4526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Loss visualization builds intuition</a:t>
            </a:r>
            <a:endParaRPr lang="en-US" sz="1800"/>
          </a:p>
        </p:txBody>
      </p:sp>
      <p:sp>
        <p:nvSpPr>
          <p:cNvPr id="1822055769" name="Text 18"/>
          <p:cNvSpPr/>
          <p:nvPr/>
        </p:nvSpPr>
        <p:spPr bwMode="auto">
          <a:xfrm>
            <a:off x="7955280" y="51206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Watching the loss curve drop epoch-by-epoch made abstract math tangible. Visualizations replace guesswork with insight.</a:t>
            </a:r>
            <a:endParaRPr lang="en-US" sz="1200"/>
          </a:p>
        </p:txBody>
      </p:sp>
      <p:sp>
        <p:nvSpPr>
          <p:cNvPr id="496036573" name="Text 19"/>
          <p:cNvSpPr/>
          <p:nvPr/>
        </p:nvSpPr>
        <p:spPr bwMode="auto"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8ECAE6"/>
                </a:solidFill>
                <a:latin typeface="Calibri"/>
                <a:ea typeface="Calibri"/>
                <a:cs typeface="Calibri"/>
              </a:rPr>
              <a:t>Karthikram Senthilvel  •  AI/ML Portfolio  •  Artifact 2 of the Professional Portfolio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Neural Networks</dc:title>
  <dc:subject>PptxGenJS Presentation</dc:subject>
  <dc:creator>Karthikram Senthilvel</dc:creator>
  <cp:lastModifiedBy/>
  <cp:revision>2</cp:revision>
  <dcterms:created xsi:type="dcterms:W3CDTF">2026-05-28T18:23:03Z</dcterms:created>
  <dcterms:modified xsi:type="dcterms:W3CDTF">2026-05-28T21:44:07Z</dcterms:modified>
</cp:coreProperties>
</file>